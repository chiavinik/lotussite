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5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6" r:id="rId25"/>
    <p:sldId id="280" r:id="rId26"/>
    <p:sldId id="285" r:id="rId27"/>
    <p:sldId id="284" r:id="rId28"/>
    <p:sldId id="283" r:id="rId29"/>
    <p:sldId id="282" r:id="rId30"/>
    <p:sldId id="281" r:id="rId31"/>
    <p:sldId id="287" r:id="rId3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28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1E200C-7DCC-7EE0-EFB7-2F30B9B86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019E88C-4ACE-A794-120D-199058F2D8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49B42D-DCAD-4F6D-C73F-0822BD260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20F27-716C-4183-84DC-CBF1DCEEA98D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FBE09B-EB10-94B8-D48A-FCBAFFACB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5E8812-056B-7AA7-34B9-9433E3D5F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B25E6-C69B-45F8-AEC1-311E67DEBA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6535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CE80D4-8248-0867-41C4-AE068508B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CBD826-80ED-6AA9-1DC2-F66B6EEE1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B7FD48-272D-AC72-EBE3-52EC6D198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20F27-716C-4183-84DC-CBF1DCEEA98D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FBA9D-A3C4-2434-DAEA-D24C210E5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DFFAE8-C058-CC57-E734-E277C1BE7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B25E6-C69B-45F8-AEC1-311E67DEBA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4341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5E89A3-D237-4873-BCF0-811646822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67B4A48-D705-C6C8-20D6-492F21ED0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CA24F0-B755-8FEA-D290-73FDCF193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20F27-716C-4183-84DC-CBF1DCEEA98D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15685D-476B-B4E6-2F31-743AA80D3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1982D4-B7A6-D882-8DFA-A9F008FAE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B25E6-C69B-45F8-AEC1-311E67DEBA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1146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893ED3-E163-72DE-79EA-5CE79EF2E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94482A-3E83-450E-BB1F-465238C910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C756E1D-C08E-B460-10D8-617DEECDA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AA24E5F-AC92-573B-6067-320198B9C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20F27-716C-4183-84DC-CBF1DCEEA98D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2C1B45C-FBDD-14B3-23D3-EADF84AAA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325AB0-2F4B-1705-D517-A82E63BD7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B25E6-C69B-45F8-AEC1-311E67DEBA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0844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BEF8E1-BCC7-D7E5-C251-284BC8976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54A15FC-9C10-7B4E-EDD2-1AD7E1B9A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896A255-760D-3C39-701F-2CF4DC2719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E0D057C-B453-92E3-45DE-A1AA2EFA6B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56CCDC5-8D41-BA99-5012-00EE129A02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064FE51-C159-B627-B1AB-B743D0097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20F27-716C-4183-84DC-CBF1DCEEA98D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8501A97-F504-8869-2F8D-327696A05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67B6BD6-D06C-0896-D361-3025ACDD5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B25E6-C69B-45F8-AEC1-311E67DEBA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5458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014DB2-344E-AC00-1F20-FDD6474E3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4A3E03A-95C9-2380-292B-23BE519B1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20F27-716C-4183-84DC-CBF1DCEEA98D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B2C9AAA-CEB4-BFCE-86E4-47402C354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F61B585-354E-9D20-85B0-CE9C97E06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B25E6-C69B-45F8-AEC1-311E67DEBA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4948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055E24E-A183-4819-331F-389325F97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20F27-716C-4183-84DC-CBF1DCEEA98D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6479E5B-E61E-9D3F-C2C6-CE0966F85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A249D56-64B8-149B-8F62-70F3CDFD5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B25E6-C69B-45F8-AEC1-311E67DEBA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136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BA053B-9569-1B2E-FAC0-192A4F71C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CFADF4-728E-8482-315A-10E3F9374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BB5D86E-FE68-F92B-DCC7-82802C936A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C5800CC-32AC-FCF9-BC58-6F070948B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20F27-716C-4183-84DC-CBF1DCEEA98D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46B0B06-3317-1B3C-D452-062C06005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C4336C7-C07C-4226-776A-5534037A0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B25E6-C69B-45F8-AEC1-311E67DEBA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0779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1F243D-8241-43AC-33F7-D2C44A008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DB66AF1-31C5-377E-6790-9A664995F0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8D3AF18-19A7-6C14-6AA3-933C7C75E2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714EF70-3D7F-F5FE-1528-6AC4F06A8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20F27-716C-4183-84DC-CBF1DCEEA98D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0F2C7CA-8E8E-CA16-8ACF-EBFBC81EE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D9DCEBA-BED8-3532-4FCB-3A69B1081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B25E6-C69B-45F8-AEC1-311E67DEBA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3326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05A9D6-B520-ABEE-0933-1EB359CEB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A470674-E360-1ED5-567E-D36BB980A3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7E68BC-3642-988A-9CD7-C184E05DD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20F27-716C-4183-84DC-CBF1DCEEA98D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CF8773-82B8-4ADB-08A9-FDEB1FCC2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3ED3AA-B6CC-C665-39A7-AF749877E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B25E6-C69B-45F8-AEC1-311E67DEBA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6708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21D4818-A43B-2006-DA35-7815B192C7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3BCD5B1-7B4B-3777-7300-98255880F2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3AB28F-E730-32D0-F56E-54DECE21F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20F27-716C-4183-84DC-CBF1DCEEA98D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0EA90D-E9A1-2781-97EB-B712A3B0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1E2B97-85B1-960F-D5FB-68248644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B25E6-C69B-45F8-AEC1-311E67DEBA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0487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B686BAF-1497-763D-5DF4-9226242CA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0A10F6A-CA7D-E6ED-9C35-329FA4FA7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D411B86-C0FD-A57B-9A66-D6375ADB7E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120F27-716C-4183-84DC-CBF1DCEEA98D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63EEC9-8A5F-3861-EB91-6224FF8E72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629533-4711-1668-517E-F7E46EA39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DB25E6-C69B-45F8-AEC1-311E67DEBA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414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1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agem 9" descr="Logotipo">
            <a:extLst>
              <a:ext uri="{FF2B5EF4-FFF2-40B4-BE49-F238E27FC236}">
                <a16:creationId xmlns:a16="http://schemas.microsoft.com/office/drawing/2014/main" id="{45656079-D63B-6A14-7BC0-5E0E74661A6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58" b="2079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F2452D6-EE3D-5B69-100B-F79A77EA8E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chemeClr val="accent2"/>
                </a:solidFill>
                <a:latin typeface="Arial Nova" panose="020F0502020204030204" pitchFamily="34" charset="0"/>
              </a:rPr>
              <a:t>Reunião 14/02/2026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624B2E-00EC-7629-2703-33589A7FF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chemeClr val="accent2"/>
                </a:solidFill>
                <a:latin typeface="Arial Nova" panose="020B0504020202020204" pitchFamily="34" charset="0"/>
              </a:rPr>
              <a:t>Assuntos pendentes; missão, visão e valores; Próximo serviço/produto; cronograma; logotipo. </a:t>
            </a:r>
          </a:p>
        </p:txBody>
      </p:sp>
      <p:sp>
        <p:nvSpPr>
          <p:cNvPr id="8" name="AutoShape 2" descr="Flor De Lótus Com Folha Em Fundo Transparente PNG , Flor De Lótus, Lótus  Com Folha, Lótus PNG Imagem para download gratuito">
            <a:extLst>
              <a:ext uri="{FF2B5EF4-FFF2-40B4-BE49-F238E27FC236}">
                <a16:creationId xmlns:a16="http://schemas.microsoft.com/office/drawing/2014/main" id="{71535320-B022-C958-421E-D4824D34C8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066925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09607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93A5D-A182-A3A1-64EB-70C48EF99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Logotipo">
            <a:extLst>
              <a:ext uri="{FF2B5EF4-FFF2-40B4-BE49-F238E27FC236}">
                <a16:creationId xmlns:a16="http://schemas.microsoft.com/office/drawing/2014/main" id="{B941A4E6-AF88-7CA1-0D13-2D488C47664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58" b="2079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E252D90D-15F2-54E9-1C7D-7A4DFF0A4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2"/>
                </a:solidFill>
                <a:latin typeface="Arial Nova" panose="020B0504020202020204" pitchFamily="34" charset="0"/>
              </a:rPr>
              <a:t>Assuntos pendentes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4A6B0B70-ED47-E651-56D1-AE164035A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latin typeface="Arial Nova" panose="020B0504020202020204" pitchFamily="34" charset="0"/>
              </a:rPr>
              <a:t>Repasse do Gustavo;</a:t>
            </a:r>
          </a:p>
          <a:p>
            <a:r>
              <a:rPr lang="pt-BR" dirty="0">
                <a:latin typeface="Arial Nova" panose="020B0504020202020204" pitchFamily="34" charset="0"/>
              </a:rPr>
              <a:t>Contratos Lótus/Lótus </a:t>
            </a:r>
            <a:r>
              <a:rPr lang="pt-BR" dirty="0" err="1">
                <a:latin typeface="Arial Nova" panose="020B0504020202020204" pitchFamily="34" charset="0"/>
              </a:rPr>
              <a:t>Academy</a:t>
            </a:r>
            <a:r>
              <a:rPr lang="pt-BR" dirty="0">
                <a:latin typeface="Arial Nova" panose="020B0504020202020204" pitchFamily="34" charset="0"/>
              </a:rPr>
              <a:t>;</a:t>
            </a:r>
          </a:p>
          <a:p>
            <a:r>
              <a:rPr lang="pt-BR" dirty="0">
                <a:latin typeface="Arial Nova" panose="020B0504020202020204" pitchFamily="34" charset="0"/>
              </a:rPr>
              <a:t>Criar duas contas no Instagram/Lótus e Lótus </a:t>
            </a:r>
            <a:r>
              <a:rPr lang="pt-BR" dirty="0" err="1">
                <a:latin typeface="Arial Nova" panose="020B0504020202020204" pitchFamily="34" charset="0"/>
              </a:rPr>
              <a:t>Academy</a:t>
            </a:r>
            <a:r>
              <a:rPr lang="pt-BR" dirty="0">
                <a:latin typeface="Arial Nova" panose="020B0504020202020204" pitchFamily="34" charset="0"/>
              </a:rPr>
              <a:t> – Apoio do Gabriel Castilho;</a:t>
            </a:r>
          </a:p>
          <a:p>
            <a:r>
              <a:rPr lang="pt-BR" dirty="0">
                <a:latin typeface="Arial Nova" panose="020B0504020202020204" pitchFamily="34" charset="0"/>
              </a:rPr>
              <a:t>Face </a:t>
            </a:r>
            <a:r>
              <a:rPr lang="pt-BR" dirty="0" err="1">
                <a:latin typeface="Arial Nova" panose="020B0504020202020204" pitchFamily="34" charset="0"/>
              </a:rPr>
              <a:t>Check</a:t>
            </a:r>
            <a:r>
              <a:rPr lang="pt-BR" dirty="0">
                <a:latin typeface="Arial Nova" panose="020B0504020202020204" pitchFamily="34" charset="0"/>
              </a:rPr>
              <a:t> (I.A);</a:t>
            </a:r>
          </a:p>
          <a:p>
            <a:r>
              <a:rPr lang="pt-BR" dirty="0">
                <a:latin typeface="Arial Nova" panose="020B0504020202020204" pitchFamily="34" charset="0"/>
              </a:rPr>
              <a:t>Gerar tópicos/cursos para a L.A (6 já existem – BNDS (5) FGV (1) + Luiz);</a:t>
            </a:r>
          </a:p>
          <a:p>
            <a:r>
              <a:rPr lang="pt-BR" dirty="0">
                <a:latin typeface="Arial Nova" panose="020B0504020202020204" pitchFamily="34" charset="0"/>
              </a:rPr>
              <a:t>Gerar diretrizes e métodos para consultorias de fazendas (inventário);</a:t>
            </a:r>
          </a:p>
          <a:p>
            <a:endParaRPr lang="pt-BR" dirty="0">
              <a:latin typeface="Arial Nova" panose="020B0504020202020204" pitchFamily="34" charset="0"/>
            </a:endParaRPr>
          </a:p>
          <a:p>
            <a:endParaRPr lang="pt-BR" dirty="0">
              <a:latin typeface="Arial Nova" panose="020B0504020202020204" pitchFamily="34" charset="0"/>
            </a:endParaRPr>
          </a:p>
        </p:txBody>
      </p:sp>
      <p:sp>
        <p:nvSpPr>
          <p:cNvPr id="8" name="AutoShape 2" descr="Flor De Lótus Com Folha Em Fundo Transparente PNG , Flor De Lótus, Lótus  Com Folha, Lótus PNG Imagem para download gratuito">
            <a:extLst>
              <a:ext uri="{FF2B5EF4-FFF2-40B4-BE49-F238E27FC236}">
                <a16:creationId xmlns:a16="http://schemas.microsoft.com/office/drawing/2014/main" id="{B2811728-7E79-477A-1DF5-4880CFB743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066925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95060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54ED18-2ACD-A6D8-112E-ADEBC9998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Logotipo">
            <a:extLst>
              <a:ext uri="{FF2B5EF4-FFF2-40B4-BE49-F238E27FC236}">
                <a16:creationId xmlns:a16="http://schemas.microsoft.com/office/drawing/2014/main" id="{5365248C-930B-A994-F3A0-36EA9FBCB7B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58" b="2079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204EDF85-EAC4-6063-EFE8-1FDA4CABA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2"/>
                </a:solidFill>
                <a:latin typeface="Arial Nova" panose="020B0504020202020204" pitchFamily="34" charset="0"/>
              </a:rPr>
              <a:t>Assuntos pendentes</a:t>
            </a:r>
            <a:endParaRPr lang="pt-BR" dirty="0">
              <a:solidFill>
                <a:schemeClr val="accent2"/>
              </a:solidFill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99B969F9-31D8-C558-A94E-849F255A5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latin typeface="Arial Nova" panose="020B0504020202020204" pitchFamily="34" charset="0"/>
              </a:rPr>
              <a:t>Aguardar Danilo do concurso e oferecer o software para teste;</a:t>
            </a:r>
          </a:p>
          <a:p>
            <a:r>
              <a:rPr lang="pt-BR" dirty="0">
                <a:latin typeface="Arial Nova" panose="020B0504020202020204" pitchFamily="34" charset="0"/>
              </a:rPr>
              <a:t>Oferecer para Bruna o software para testes;</a:t>
            </a:r>
          </a:p>
          <a:p>
            <a:r>
              <a:rPr lang="pt-BR" dirty="0">
                <a:latin typeface="Arial Nova" panose="020B0504020202020204" pitchFamily="34" charset="0"/>
              </a:rPr>
              <a:t>Entrar em contato com possíveis clientes (Gustavo?);</a:t>
            </a:r>
          </a:p>
          <a:p>
            <a:r>
              <a:rPr lang="pt-BR" dirty="0">
                <a:latin typeface="Arial Nova" panose="020B0504020202020204" pitchFamily="34" charset="0"/>
              </a:rPr>
              <a:t>Inscrever o software para a união;</a:t>
            </a:r>
          </a:p>
          <a:p>
            <a:r>
              <a:rPr lang="pt-BR" dirty="0">
                <a:latin typeface="Arial Nova" panose="020B0504020202020204" pitchFamily="34" charset="0"/>
              </a:rPr>
              <a:t>CNPJ?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8" name="AutoShape 2" descr="Flor De Lótus Com Folha Em Fundo Transparente PNG , Flor De Lótus, Lótus  Com Folha, Lótus PNG Imagem para download gratuito">
            <a:extLst>
              <a:ext uri="{FF2B5EF4-FFF2-40B4-BE49-F238E27FC236}">
                <a16:creationId xmlns:a16="http://schemas.microsoft.com/office/drawing/2014/main" id="{FE440221-76BE-0FA3-8355-774EDCDABF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066925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39455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D05E27-C48A-D5EA-799F-A6D17A74E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Logotipo">
            <a:extLst>
              <a:ext uri="{FF2B5EF4-FFF2-40B4-BE49-F238E27FC236}">
                <a16:creationId xmlns:a16="http://schemas.microsoft.com/office/drawing/2014/main" id="{63B20B65-DE06-318D-CEEF-BC3467D54AA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58" b="2079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F8A2CE49-B832-A77B-0EB6-9F8409E26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3817"/>
            <a:ext cx="105156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accent2"/>
                </a:solidFill>
                <a:latin typeface="Arial Nova" panose="020B0504020202020204" pitchFamily="34" charset="0"/>
              </a:rPr>
              <a:t>Missão, Visão e Valores</a:t>
            </a:r>
          </a:p>
        </p:txBody>
      </p:sp>
      <p:sp>
        <p:nvSpPr>
          <p:cNvPr id="8" name="AutoShape 2" descr="Flor De Lótus Com Folha Em Fundo Transparente PNG , Flor De Lótus, Lótus  Com Folha, Lótus PNG Imagem para download gratuito">
            <a:extLst>
              <a:ext uri="{FF2B5EF4-FFF2-40B4-BE49-F238E27FC236}">
                <a16:creationId xmlns:a16="http://schemas.microsoft.com/office/drawing/2014/main" id="{64F98D63-794B-6C95-029E-02A76D1ACB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066925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78446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E34402-B8E8-3D85-27DB-181300B19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Logotipo">
            <a:extLst>
              <a:ext uri="{FF2B5EF4-FFF2-40B4-BE49-F238E27FC236}">
                <a16:creationId xmlns:a16="http://schemas.microsoft.com/office/drawing/2014/main" id="{EF1504DF-934D-54A7-1C1B-F6D55C70DFA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58" b="2079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36A16493-7A4E-D8C0-BE4F-499273F41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2"/>
                </a:solidFill>
                <a:latin typeface="Arial Nova" panose="020B0504020202020204" pitchFamily="34" charset="0"/>
              </a:rPr>
              <a:t>Missão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0E5283E9-4B15-4A9C-911A-4E1C5F675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latin typeface="Arial Nova" panose="020B0504020202020204" pitchFamily="34" charset="0"/>
              </a:rPr>
              <a:t>Promover soluções ambientais técnicas, seguras e estratégicas para propriedades rurais, e indústrias, transformando passivos ambientais e áreas produtivas em ativos de valor por meio da regularização, gestão ambiental e desenvolvimento de projetos descarbonização, com responsabilidade técnica, agilidade e foco em resultados concretos.</a:t>
            </a:r>
          </a:p>
        </p:txBody>
      </p:sp>
      <p:sp>
        <p:nvSpPr>
          <p:cNvPr id="8" name="AutoShape 2" descr="Flor De Lótus Com Folha Em Fundo Transparente PNG , Flor De Lótus, Lótus  Com Folha, Lótus PNG Imagem para download gratuito">
            <a:extLst>
              <a:ext uri="{FF2B5EF4-FFF2-40B4-BE49-F238E27FC236}">
                <a16:creationId xmlns:a16="http://schemas.microsoft.com/office/drawing/2014/main" id="{9D5B2B62-124C-3103-F6C9-5118F3E1FB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066925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47699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4AB5C2-F4BF-EBB6-C3F1-D7C06061C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Logotipo">
            <a:extLst>
              <a:ext uri="{FF2B5EF4-FFF2-40B4-BE49-F238E27FC236}">
                <a16:creationId xmlns:a16="http://schemas.microsoft.com/office/drawing/2014/main" id="{C5900C18-03ED-720E-2657-9F36D11F628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58" b="2079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B690E304-4F3F-E402-9F97-9662FCDFB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2"/>
                </a:solidFill>
                <a:latin typeface="Arial Nova" panose="020B0504020202020204" pitchFamily="34" charset="0"/>
              </a:rPr>
              <a:t>Visão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C4CED20D-B918-C9AD-BDD6-396AC1940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latin typeface="Arial Nova" panose="020B0504020202020204" pitchFamily="34" charset="0"/>
              </a:rPr>
              <a:t>Ser referência em regularização ambiental, gestão estratégica para indústrias e propriedades rurais, desenvolvimento de projetos de carbono, reconhecida pela excelência técnica, eficiência nos processos junto aos órgãos ambientais e geração de valor ambiental e econômico aos clientes.</a:t>
            </a:r>
          </a:p>
        </p:txBody>
      </p:sp>
      <p:sp>
        <p:nvSpPr>
          <p:cNvPr id="8" name="AutoShape 2" descr="Flor De Lótus Com Folha Em Fundo Transparente PNG , Flor De Lótus, Lótus  Com Folha, Lótus PNG Imagem para download gratuito">
            <a:extLst>
              <a:ext uri="{FF2B5EF4-FFF2-40B4-BE49-F238E27FC236}">
                <a16:creationId xmlns:a16="http://schemas.microsoft.com/office/drawing/2014/main" id="{B6969D9C-5929-F6D0-9F6B-5CC230BB37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066925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33647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08C687-F557-F958-6FC8-B191F01E9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Logotipo">
            <a:extLst>
              <a:ext uri="{FF2B5EF4-FFF2-40B4-BE49-F238E27FC236}">
                <a16:creationId xmlns:a16="http://schemas.microsoft.com/office/drawing/2014/main" id="{F63B6E43-D404-6821-4BF7-D1BFBCB8E41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58" b="2079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7499C1E1-9A11-F4A3-78D4-70E450002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2"/>
                </a:solidFill>
                <a:latin typeface="Arial Nova" panose="020B0504020202020204" pitchFamily="34" charset="0"/>
              </a:rPr>
              <a:t>Valores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EC1C7662-C8A2-F2C0-85C9-724733831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>
                <a:latin typeface="Arial Nova" panose="020B0504020202020204" pitchFamily="34" charset="0"/>
              </a:rPr>
              <a:t>Nossa atuação é pautada pela responsabilidade técnica, com fundamentação sólida na legislação ambiental, critérios técnicos e rigor profissional. Prezamos pela transparência e clareza na comunicação com clientes, parceiros e órgãos ambientais, mantendo postura objetiva e ética em todas as etapas dos processos. Trabalhamos com agilidade estratégica, realizando gestão ativa de prazos, exigências técnicas, sempre antecipando riscos e buscando eficiência. Mantemos compromisso absoluto com a ética e a conformidade legal, assegurando segurança jurídica e integridade profissional. Acreditamos na sustentabilidade aplicada ao setor produtivo, integrando viabilidade econômica, responsabilidade ambiental e conformidade normativa para indústrias e propriedades rurais. Nosso foco está na solução e na geração de valor, transformando obrigações ambientais em oportunidades estratégicas, incluindo a estruturação de ativos ambientais e projetos de crédito de carbono.</a:t>
            </a:r>
          </a:p>
        </p:txBody>
      </p:sp>
      <p:sp>
        <p:nvSpPr>
          <p:cNvPr id="8" name="AutoShape 2" descr="Flor De Lótus Com Folha Em Fundo Transparente PNG , Flor De Lótus, Lótus  Com Folha, Lótus PNG Imagem para download gratuito">
            <a:extLst>
              <a:ext uri="{FF2B5EF4-FFF2-40B4-BE49-F238E27FC236}">
                <a16:creationId xmlns:a16="http://schemas.microsoft.com/office/drawing/2014/main" id="{F87860DE-2802-72C1-9F7A-3143616218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066925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44199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D847C2-47F8-6C75-B784-5C100A282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Logotipo">
            <a:extLst>
              <a:ext uri="{FF2B5EF4-FFF2-40B4-BE49-F238E27FC236}">
                <a16:creationId xmlns:a16="http://schemas.microsoft.com/office/drawing/2014/main" id="{32D7A884-D1F6-31B6-5C6C-1B297D9C33D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58" b="2079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5A45A07-2831-A8A6-AC56-90B6ADBFA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accent2"/>
                </a:solidFill>
                <a:latin typeface="Arial Nova" panose="020B0504020202020204" pitchFamily="34" charset="0"/>
              </a:rPr>
              <a:t>Próximo foco de trabalho/venda</a:t>
            </a:r>
          </a:p>
        </p:txBody>
      </p:sp>
      <p:sp>
        <p:nvSpPr>
          <p:cNvPr id="8" name="AutoShape 2" descr="Flor De Lótus Com Folha Em Fundo Transparente PNG , Flor De Lótus, Lótus  Com Folha, Lótus PNG Imagem para download gratuito">
            <a:extLst>
              <a:ext uri="{FF2B5EF4-FFF2-40B4-BE49-F238E27FC236}">
                <a16:creationId xmlns:a16="http://schemas.microsoft.com/office/drawing/2014/main" id="{0BCD3D21-F972-AB35-7AAE-974ACEB3ED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066925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41201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D6BA8E-4B09-5733-217E-8262ACB93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Logotipo">
            <a:extLst>
              <a:ext uri="{FF2B5EF4-FFF2-40B4-BE49-F238E27FC236}">
                <a16:creationId xmlns:a16="http://schemas.microsoft.com/office/drawing/2014/main" id="{8AD6E8C8-16B3-58BB-CA10-F1FB463EC48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58" b="2079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D1A4FB82-0D9C-DD22-43A9-C85371F8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2"/>
                </a:solidFill>
                <a:latin typeface="Arial Nova" panose="020B0504020202020204" pitchFamily="34" charset="0"/>
              </a:rPr>
              <a:t>Créditos de Carbono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CBD9F9B9-12BD-D27D-8ECA-FB44F5200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ova" panose="020B0504020202020204" pitchFamily="34" charset="0"/>
              </a:rPr>
              <a:t>Diagnóstico e Elegibilidade da Área/Empreendimento</a:t>
            </a:r>
          </a:p>
          <a:p>
            <a:r>
              <a:rPr lang="pt-BR" sz="2200" dirty="0">
                <a:latin typeface="Arial Nova" panose="020B0504020202020204" pitchFamily="34" charset="0"/>
              </a:rPr>
              <a:t>Levantamento fundiário e documental (análise de matrícula, posse, CAR e regularidade jurídica da área);</a:t>
            </a:r>
          </a:p>
          <a:p>
            <a:r>
              <a:rPr lang="pt-BR" sz="2200" dirty="0">
                <a:latin typeface="Arial Nova" panose="020B0504020202020204" pitchFamily="34" charset="0"/>
              </a:rPr>
              <a:t>Análise de regularização ambiental (verificação de APP, Reserva Legal e passivos ambientais);</a:t>
            </a:r>
          </a:p>
          <a:p>
            <a:r>
              <a:rPr lang="pt-BR" sz="2200" dirty="0">
                <a:latin typeface="Arial Nova" panose="020B0504020202020204" pitchFamily="34" charset="0"/>
              </a:rPr>
              <a:t>Verificação de adicionalidade (comprovação de que o projeto só ocorre devido ao incentivo do crédito de carbono);</a:t>
            </a:r>
          </a:p>
          <a:p>
            <a:r>
              <a:rPr lang="pt-BR" sz="2200" dirty="0">
                <a:latin typeface="Arial Nova" panose="020B0504020202020204" pitchFamily="34" charset="0"/>
              </a:rPr>
              <a:t>Histórico de uso e ocupação do solo (avaliação de desmatamento anterior e linha do tempo da área);</a:t>
            </a:r>
          </a:p>
          <a:p>
            <a:r>
              <a:rPr lang="pt-BR" sz="2200" dirty="0">
                <a:latin typeface="Arial Nova" panose="020B0504020202020204" pitchFamily="34" charset="0"/>
              </a:rPr>
              <a:t>Análise de potencial de remoção ou redução de GEE (estimativa técnica de quanto carbono pode ser sequestrado ou evitado - Industrial).</a:t>
            </a:r>
          </a:p>
        </p:txBody>
      </p:sp>
      <p:sp>
        <p:nvSpPr>
          <p:cNvPr id="8" name="AutoShape 2" descr="Flor De Lótus Com Folha Em Fundo Transparente PNG , Flor De Lótus, Lótus  Com Folha, Lótus PNG Imagem para download gratuito">
            <a:extLst>
              <a:ext uri="{FF2B5EF4-FFF2-40B4-BE49-F238E27FC236}">
                <a16:creationId xmlns:a16="http://schemas.microsoft.com/office/drawing/2014/main" id="{BDC316CE-BB0C-2040-FEF0-722D480269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066925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6444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730291-35B5-F882-74A0-929DD275B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Logotipo">
            <a:extLst>
              <a:ext uri="{FF2B5EF4-FFF2-40B4-BE49-F238E27FC236}">
                <a16:creationId xmlns:a16="http://schemas.microsoft.com/office/drawing/2014/main" id="{EC17CBB4-7DA0-C207-9266-E28272731A2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58" b="2079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E9C570B9-1A6B-09B0-D2D3-0ECA7CB1C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2"/>
                </a:solidFill>
                <a:latin typeface="Arial Nova" panose="020B0504020202020204" pitchFamily="34" charset="0"/>
              </a:rPr>
              <a:t>Créditos de Carbono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DC5E0BA3-B776-4894-3A94-4E1AF5917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 Nova" panose="020B0504020202020204" pitchFamily="34" charset="0"/>
              </a:rPr>
              <a:t>Definição da Modalidade do Projeto</a:t>
            </a:r>
          </a:p>
          <a:p>
            <a:r>
              <a:rPr lang="pt-BR" dirty="0">
                <a:latin typeface="Arial Nova" panose="020B0504020202020204" pitchFamily="34" charset="0"/>
              </a:rPr>
              <a:t>Projetos Florestais (AFOLU – </a:t>
            </a:r>
            <a:r>
              <a:rPr lang="pt-BR" dirty="0" err="1">
                <a:latin typeface="Arial Nova" panose="020B0504020202020204" pitchFamily="34" charset="0"/>
              </a:rPr>
              <a:t>Agriculture</a:t>
            </a:r>
            <a:r>
              <a:rPr lang="pt-BR" dirty="0">
                <a:latin typeface="Arial Nova" panose="020B0504020202020204" pitchFamily="34" charset="0"/>
              </a:rPr>
              <a:t>, </a:t>
            </a:r>
            <a:r>
              <a:rPr lang="pt-BR" dirty="0" err="1">
                <a:latin typeface="Arial Nova" panose="020B0504020202020204" pitchFamily="34" charset="0"/>
              </a:rPr>
              <a:t>Forestry</a:t>
            </a:r>
            <a:r>
              <a:rPr lang="pt-BR" dirty="0">
                <a:latin typeface="Arial Nova" panose="020B0504020202020204" pitchFamily="34" charset="0"/>
              </a:rPr>
              <a:t> </a:t>
            </a:r>
            <a:r>
              <a:rPr lang="pt-BR" dirty="0" err="1">
                <a:latin typeface="Arial Nova" panose="020B0504020202020204" pitchFamily="34" charset="0"/>
              </a:rPr>
              <a:t>and</a:t>
            </a:r>
            <a:r>
              <a:rPr lang="pt-BR" dirty="0">
                <a:latin typeface="Arial Nova" panose="020B0504020202020204" pitchFamily="34" charset="0"/>
              </a:rPr>
              <a:t> Land Use);</a:t>
            </a:r>
          </a:p>
          <a:p>
            <a:r>
              <a:rPr lang="pt-BR" dirty="0">
                <a:latin typeface="Arial Nova" panose="020B0504020202020204" pitchFamily="34" charset="0"/>
              </a:rPr>
              <a:t>ARR (reflorestamento ou revegetação de áreas degradadas)</a:t>
            </a:r>
          </a:p>
          <a:p>
            <a:r>
              <a:rPr lang="pt-BR" dirty="0">
                <a:latin typeface="Arial Nova" panose="020B0504020202020204" pitchFamily="34" charset="0"/>
              </a:rPr>
              <a:t>REDD+ (redução de emissões por desmatamento e degradação evitados);</a:t>
            </a:r>
          </a:p>
          <a:p>
            <a:r>
              <a:rPr lang="pt-BR" dirty="0">
                <a:latin typeface="Arial Nova" panose="020B0504020202020204" pitchFamily="34" charset="0"/>
              </a:rPr>
              <a:t>Restauração de APP e Reserva Legal (recuperação obrigatória convertida em ativo ambiental).</a:t>
            </a:r>
          </a:p>
        </p:txBody>
      </p:sp>
      <p:sp>
        <p:nvSpPr>
          <p:cNvPr id="8" name="AutoShape 2" descr="Flor De Lótus Com Folha Em Fundo Transparente PNG , Flor De Lótus, Lótus  Com Folha, Lótus PNG Imagem para download gratuito">
            <a:extLst>
              <a:ext uri="{FF2B5EF4-FFF2-40B4-BE49-F238E27FC236}">
                <a16:creationId xmlns:a16="http://schemas.microsoft.com/office/drawing/2014/main" id="{B8E62310-E0F1-B10C-7FE3-AD2E2C789C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066925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45105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5D6443-D69A-CEAE-E984-9746CDB52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Logotipo">
            <a:extLst>
              <a:ext uri="{FF2B5EF4-FFF2-40B4-BE49-F238E27FC236}">
                <a16:creationId xmlns:a16="http://schemas.microsoft.com/office/drawing/2014/main" id="{75859142-517A-14FE-7588-647F10E9F21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58" b="2079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81D9FADF-4281-3A9A-752E-50A2BD465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2"/>
                </a:solidFill>
                <a:latin typeface="Arial Nova" panose="020B0504020202020204" pitchFamily="34" charset="0"/>
              </a:rPr>
              <a:t>Créditos de Carbono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18C40B19-0E73-1347-7DBD-000C27F84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 Nova" panose="020B0504020202020204" pitchFamily="34" charset="0"/>
              </a:rPr>
              <a:t>Projetos Industriais</a:t>
            </a:r>
          </a:p>
          <a:p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Arial Nova" panose="020B0504020202020204" pitchFamily="34" charset="0"/>
              </a:rPr>
              <a:t>Eficiência energética (redução do consumo de energia por modernização de processos);</a:t>
            </a:r>
          </a:p>
          <a:p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Arial Nova" panose="020B0504020202020204" pitchFamily="34" charset="0"/>
              </a:rPr>
              <a:t>Substituição de combustível fóssil (troca por biomassa ou energia renovável);</a:t>
            </a:r>
          </a:p>
          <a:p>
            <a:r>
              <a:rPr lang="pt-BR" b="1" dirty="0">
                <a:solidFill>
                  <a:schemeClr val="tx1">
                    <a:lumMod val="95000"/>
                  </a:schemeClr>
                </a:solidFill>
                <a:latin typeface="Arial Nova" panose="020B0504020202020204" pitchFamily="34" charset="0"/>
              </a:rPr>
              <a:t>Gestão de resíduos e biogás (captura de metano e geração de energia).</a:t>
            </a:r>
          </a:p>
          <a:p>
            <a:pPr marL="0" indent="0">
              <a:buNone/>
            </a:pPr>
            <a:endParaRPr lang="pt-BR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AutoShape 2" descr="Flor De Lótus Com Folha Em Fundo Transparente PNG , Flor De Lótus, Lótus  Com Folha, Lótus PNG Imagem para download gratuito">
            <a:extLst>
              <a:ext uri="{FF2B5EF4-FFF2-40B4-BE49-F238E27FC236}">
                <a16:creationId xmlns:a16="http://schemas.microsoft.com/office/drawing/2014/main" id="{DDD12CBB-67BA-E964-78EE-3F56D29C39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066925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77239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89ACC6-109E-A304-6AA7-AD876AF94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Logotipo">
            <a:extLst>
              <a:ext uri="{FF2B5EF4-FFF2-40B4-BE49-F238E27FC236}">
                <a16:creationId xmlns:a16="http://schemas.microsoft.com/office/drawing/2014/main" id="{0042334D-3901-5235-CBA2-32F0DCEB20B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58" b="2079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C8EC4D18-56FB-F831-D625-A278920D0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2"/>
                </a:solidFill>
                <a:latin typeface="Arial Nova" panose="020B0504020202020204" pitchFamily="34" charset="0"/>
              </a:rPr>
              <a:t>Créditos de Carbono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243C4769-362A-5339-C7A1-FA911671C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 Nova" panose="020B0504020202020204" pitchFamily="34" charset="0"/>
              </a:rPr>
              <a:t>Mineração</a:t>
            </a:r>
          </a:p>
          <a:p>
            <a:r>
              <a:rPr lang="pt-BR" dirty="0">
                <a:latin typeface="Arial Nova" panose="020B0504020202020204" pitchFamily="34" charset="0"/>
              </a:rPr>
              <a:t>Recuperação de áreas degradadas (sequestro de carbono por revegetação técnica);</a:t>
            </a:r>
          </a:p>
          <a:p>
            <a:r>
              <a:rPr lang="pt-BR" dirty="0">
                <a:latin typeface="Arial Nova" panose="020B0504020202020204" pitchFamily="34" charset="0"/>
              </a:rPr>
              <a:t>Redução de emissões operacionais (otimização de maquinário e combustíveis);</a:t>
            </a:r>
          </a:p>
          <a:p>
            <a:r>
              <a:rPr lang="pt-BR" dirty="0">
                <a:latin typeface="Arial Nova" panose="020B0504020202020204" pitchFamily="34" charset="0"/>
              </a:rPr>
              <a:t>Inventário de emissões da operação (controle técnico das fontes emissoras).</a:t>
            </a:r>
          </a:p>
        </p:txBody>
      </p:sp>
      <p:sp>
        <p:nvSpPr>
          <p:cNvPr id="8" name="AutoShape 2" descr="Flor De Lótus Com Folha Em Fundo Transparente PNG , Flor De Lótus, Lótus  Com Folha, Lótus PNG Imagem para download gratuito">
            <a:extLst>
              <a:ext uri="{FF2B5EF4-FFF2-40B4-BE49-F238E27FC236}">
                <a16:creationId xmlns:a16="http://schemas.microsoft.com/office/drawing/2014/main" id="{1DF3F20A-0499-3D70-592B-4002C4BD42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066925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7172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A00DF8-9B57-CB72-7054-7F9A03A08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Logotipo">
            <a:extLst>
              <a:ext uri="{FF2B5EF4-FFF2-40B4-BE49-F238E27FC236}">
                <a16:creationId xmlns:a16="http://schemas.microsoft.com/office/drawing/2014/main" id="{92534C4B-2282-7FBF-60D1-CD7FEEC58B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58" b="2079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39F2B88B-9D44-B1DD-EDAC-5EBD5E611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2"/>
                </a:solidFill>
                <a:latin typeface="Arial Nova" panose="020B0504020202020204" pitchFamily="34" charset="0"/>
              </a:rPr>
              <a:t>Créditos de Carbono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2129C0F4-38BC-745E-0ED6-598DA9BEB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 Nova" panose="020B0504020202020204" pitchFamily="34" charset="0"/>
              </a:rPr>
              <a:t>Inventário de Emissões </a:t>
            </a:r>
          </a:p>
          <a:p>
            <a:r>
              <a:rPr lang="pt-BR" dirty="0">
                <a:latin typeface="Arial Nova" panose="020B0504020202020204" pitchFamily="34" charset="0"/>
              </a:rPr>
              <a:t>Escopo 1 (emissões diretas da empresa, como combustão e maquinário);</a:t>
            </a:r>
          </a:p>
          <a:p>
            <a:r>
              <a:rPr lang="pt-BR" dirty="0">
                <a:latin typeface="Arial Nova" panose="020B0504020202020204" pitchFamily="34" charset="0"/>
              </a:rPr>
              <a:t>Escopo 2 (emissões indiretas relacionadas ao consumo de energia elétrica);</a:t>
            </a:r>
          </a:p>
          <a:p>
            <a:r>
              <a:rPr lang="pt-BR" dirty="0">
                <a:latin typeface="Arial Nova" panose="020B0504020202020204" pitchFamily="34" charset="0"/>
              </a:rPr>
              <a:t>Escopo 3 (emissões da cadeia de fornecedores, transporte e uso do produto).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8" name="AutoShape 2" descr="Flor De Lótus Com Folha Em Fundo Transparente PNG , Flor De Lótus, Lótus  Com Folha, Lótus PNG Imagem para download gratuito">
            <a:extLst>
              <a:ext uri="{FF2B5EF4-FFF2-40B4-BE49-F238E27FC236}">
                <a16:creationId xmlns:a16="http://schemas.microsoft.com/office/drawing/2014/main" id="{5ACECEFA-9E7F-061E-93C4-F8435FCB6D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066925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" name="Imagem 2" descr="Uma imagem contendo homem, mesa, segurando, mulher&#10;&#10;O conteúdo gerado por IA pode estar incorreto.">
            <a:extLst>
              <a:ext uri="{FF2B5EF4-FFF2-40B4-BE49-F238E27FC236}">
                <a16:creationId xmlns:a16="http://schemas.microsoft.com/office/drawing/2014/main" id="{1B8626CF-8A00-3146-E50F-A8C42EF95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2602" y="131660"/>
            <a:ext cx="4072314" cy="223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5032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34854A-9BAF-2DCB-6D0E-310859A6F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Logotipo">
            <a:extLst>
              <a:ext uri="{FF2B5EF4-FFF2-40B4-BE49-F238E27FC236}">
                <a16:creationId xmlns:a16="http://schemas.microsoft.com/office/drawing/2014/main" id="{18CB177D-4A98-BF4A-C448-3342D98CCB8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58" b="2079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353EA353-200F-7AFE-FB2E-E2AE7E8D0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2"/>
                </a:solidFill>
                <a:latin typeface="Arial Nova" panose="020B0504020202020204" pitchFamily="34" charset="0"/>
              </a:rPr>
              <a:t>Créditos de Carbono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8F1023D8-3743-9C46-0856-BFC82F413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 Nova" panose="020B0504020202020204" pitchFamily="34" charset="0"/>
              </a:rPr>
              <a:t>Escolha do Padrão de Certificação</a:t>
            </a:r>
          </a:p>
          <a:p>
            <a:r>
              <a:rPr lang="pt-BR" sz="2200" dirty="0" err="1">
                <a:latin typeface="Arial Nova" panose="020B0504020202020204" pitchFamily="34" charset="0"/>
              </a:rPr>
              <a:t>Verra</a:t>
            </a:r>
            <a:r>
              <a:rPr lang="pt-BR" sz="2200" dirty="0">
                <a:latin typeface="Arial Nova" panose="020B0504020202020204" pitchFamily="34" charset="0"/>
              </a:rPr>
              <a:t> (principal padrão do mercado voluntário – emite </a:t>
            </a:r>
            <a:r>
              <a:rPr lang="pt-BR" sz="2200" dirty="0" err="1">
                <a:latin typeface="Arial Nova" panose="020B0504020202020204" pitchFamily="34" charset="0"/>
              </a:rPr>
              <a:t>VCUs</a:t>
            </a:r>
            <a:r>
              <a:rPr lang="pt-BR" sz="2200" dirty="0">
                <a:latin typeface="Arial Nova" panose="020B05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pt-BR" sz="2200" dirty="0">
                <a:latin typeface="Arial Nova" panose="020B0504020202020204" pitchFamily="34" charset="0"/>
              </a:rPr>
              <a:t>https://verra.org/</a:t>
            </a:r>
          </a:p>
          <a:p>
            <a:r>
              <a:rPr lang="pt-BR" sz="2200" dirty="0">
                <a:latin typeface="Arial Nova" panose="020B0504020202020204" pitchFamily="34" charset="0"/>
              </a:rPr>
              <a:t>Gold Standard (foco em impacto ambiental e social)</a:t>
            </a:r>
          </a:p>
          <a:p>
            <a:pPr marL="0" indent="0">
              <a:buNone/>
            </a:pPr>
            <a:r>
              <a:rPr lang="pt-BR" sz="2200" dirty="0">
                <a:latin typeface="Arial Nova" panose="020B0504020202020204" pitchFamily="34" charset="0"/>
              </a:rPr>
              <a:t>https://www.goldstandard.org/</a:t>
            </a:r>
          </a:p>
          <a:p>
            <a:r>
              <a:rPr lang="pt-BR" sz="2200" dirty="0">
                <a:latin typeface="Arial Nova" panose="020B0504020202020204" pitchFamily="34" charset="0"/>
              </a:rPr>
              <a:t>American Carbon Registry (registro norte-americano com metodologias reconhecidas)</a:t>
            </a:r>
          </a:p>
          <a:p>
            <a:pPr marL="0" indent="0">
              <a:buNone/>
            </a:pPr>
            <a:r>
              <a:rPr lang="pt-BR" sz="2200" dirty="0">
                <a:latin typeface="Arial Nova" panose="020B0504020202020204" pitchFamily="34" charset="0"/>
              </a:rPr>
              <a:t>https://acrcarbon.org/</a:t>
            </a:r>
          </a:p>
          <a:p>
            <a:r>
              <a:rPr lang="pt-BR" sz="2200" dirty="0" err="1">
                <a:latin typeface="Arial Nova" panose="020B0504020202020204" pitchFamily="34" charset="0"/>
              </a:rPr>
              <a:t>Climate</a:t>
            </a:r>
            <a:r>
              <a:rPr lang="pt-BR" sz="2200" dirty="0">
                <a:latin typeface="Arial Nova" panose="020B0504020202020204" pitchFamily="34" charset="0"/>
              </a:rPr>
              <a:t> </a:t>
            </a:r>
            <a:r>
              <a:rPr lang="pt-BR" sz="2200" dirty="0" err="1">
                <a:latin typeface="Arial Nova" panose="020B0504020202020204" pitchFamily="34" charset="0"/>
              </a:rPr>
              <a:t>Action</a:t>
            </a:r>
            <a:r>
              <a:rPr lang="pt-BR" sz="2200" dirty="0">
                <a:latin typeface="Arial Nova" panose="020B0504020202020204" pitchFamily="34" charset="0"/>
              </a:rPr>
              <a:t> Reserve (padrão internacional com forte base técnica</a:t>
            </a:r>
            <a:r>
              <a:rPr lang="pt-BR" dirty="0">
                <a:latin typeface="Arial Nova" panose="020B05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pt-BR" sz="2200" dirty="0">
                <a:latin typeface="Arial Nova" panose="020B0504020202020204" pitchFamily="34" charset="0"/>
              </a:rPr>
              <a:t>https://climateactionreserve.org/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8" name="AutoShape 2" descr="Flor De Lótus Com Folha Em Fundo Transparente PNG , Flor De Lótus, Lótus  Com Folha, Lótus PNG Imagem para download gratuito">
            <a:extLst>
              <a:ext uri="{FF2B5EF4-FFF2-40B4-BE49-F238E27FC236}">
                <a16:creationId xmlns:a16="http://schemas.microsoft.com/office/drawing/2014/main" id="{8CF87EAC-E9CA-0E0F-1D97-42ADF6BAED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066925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35667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730463-A550-A392-C898-F1C22A531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Logotipo">
            <a:extLst>
              <a:ext uri="{FF2B5EF4-FFF2-40B4-BE49-F238E27FC236}">
                <a16:creationId xmlns:a16="http://schemas.microsoft.com/office/drawing/2014/main" id="{95E4615D-35A6-37D1-D4D6-CEB88CB66AD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58" b="2079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D300F9AC-6BB7-C1FF-183F-7C8596FC8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2"/>
                </a:solidFill>
                <a:latin typeface="Arial Nova" panose="020B0504020202020204" pitchFamily="34" charset="0"/>
              </a:rPr>
              <a:t>Créditos de Carbono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141F3EEB-3253-968E-8670-C5BB2EFEA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 Nova" panose="020B0504020202020204" pitchFamily="34" charset="0"/>
              </a:rPr>
              <a:t>Etapas Técnicas do Projeto</a:t>
            </a:r>
          </a:p>
          <a:p>
            <a:r>
              <a:rPr lang="pt-BR" sz="2000" dirty="0">
                <a:latin typeface="Arial Nova" panose="020B0504020202020204" pitchFamily="34" charset="0"/>
              </a:rPr>
              <a:t>Elaboração do PDD (documento técnico detalhando metodologia, cálculos e plano de monitoramento);</a:t>
            </a:r>
          </a:p>
          <a:p>
            <a:r>
              <a:rPr lang="pt-BR" sz="2000" dirty="0">
                <a:latin typeface="Arial Nova" panose="020B0504020202020204" pitchFamily="34" charset="0"/>
              </a:rPr>
              <a:t>Validação (auditoria inicial por entidade independente)*;</a:t>
            </a:r>
          </a:p>
          <a:p>
            <a:r>
              <a:rPr lang="pt-BR" sz="2000" dirty="0">
                <a:latin typeface="Arial Nova" panose="020B0504020202020204" pitchFamily="34" charset="0"/>
              </a:rPr>
              <a:t>Registro no padrão escolhido (aprovação formal do projeto na plataforma certificadora)**;</a:t>
            </a:r>
          </a:p>
          <a:p>
            <a:r>
              <a:rPr lang="pt-BR" sz="2000" dirty="0">
                <a:latin typeface="Arial Nova" panose="020B0504020202020204" pitchFamily="34" charset="0"/>
              </a:rPr>
              <a:t>Monitoramento periódico (acompanhamento técnico dos resultados e medições);</a:t>
            </a:r>
          </a:p>
          <a:p>
            <a:r>
              <a:rPr lang="pt-BR" sz="2000" dirty="0">
                <a:latin typeface="Arial Nova" panose="020B0504020202020204" pitchFamily="34" charset="0"/>
              </a:rPr>
              <a:t>Verificação (auditoria para confirmar os resultados alcançados);</a:t>
            </a:r>
          </a:p>
          <a:p>
            <a:r>
              <a:rPr lang="pt-BR" sz="2000" dirty="0">
                <a:latin typeface="Arial Nova" panose="020B0504020202020204" pitchFamily="34" charset="0"/>
              </a:rPr>
              <a:t>Emissão dos créditos (geração oficial dos créditos certificados após aprovação).</a:t>
            </a:r>
          </a:p>
        </p:txBody>
      </p:sp>
      <p:sp>
        <p:nvSpPr>
          <p:cNvPr id="8" name="AutoShape 2" descr="Flor De Lótus Com Folha Em Fundo Transparente PNG , Flor De Lótus, Lótus  Com Folha, Lótus PNG Imagem para download gratuito">
            <a:extLst>
              <a:ext uri="{FF2B5EF4-FFF2-40B4-BE49-F238E27FC236}">
                <a16:creationId xmlns:a16="http://schemas.microsoft.com/office/drawing/2014/main" id="{77F512BB-4AE6-3037-3D2B-9650DE2EC9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066925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23154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820EF1-4BEC-41FD-D3C9-1D90E5258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Logotipo">
            <a:extLst>
              <a:ext uri="{FF2B5EF4-FFF2-40B4-BE49-F238E27FC236}">
                <a16:creationId xmlns:a16="http://schemas.microsoft.com/office/drawing/2014/main" id="{BD1D5602-F191-45CC-0C34-7F616BE4A9D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58" b="2079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D6A83B9E-13F1-A3B4-8776-5E8DAD8B4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2"/>
                </a:solidFill>
                <a:latin typeface="Arial Nova" panose="020B0504020202020204" pitchFamily="34" charset="0"/>
              </a:rPr>
              <a:t>Créditos de Carbono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8BF8240B-4E04-F354-73C0-27FA3ADC9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pt-BR" sz="8000" dirty="0">
                <a:solidFill>
                  <a:schemeClr val="accent2"/>
                </a:solidFill>
                <a:latin typeface="Arial Nova" panose="020B0504020202020204" pitchFamily="34" charset="0"/>
              </a:rPr>
              <a:t>*</a:t>
            </a:r>
            <a:r>
              <a:rPr lang="pt-BR" dirty="0">
                <a:latin typeface="Arial Nova" panose="020B0504020202020204" pitchFamily="34" charset="0"/>
              </a:rPr>
              <a:t> </a:t>
            </a:r>
          </a:p>
          <a:p>
            <a:r>
              <a:rPr lang="pt-BR" sz="2100" dirty="0">
                <a:latin typeface="Arial Nova" panose="020B0504020202020204" pitchFamily="34" charset="0"/>
              </a:rPr>
              <a:t>A </a:t>
            </a:r>
            <a:r>
              <a:rPr lang="pt-BR" sz="2100" b="1" dirty="0">
                <a:latin typeface="Arial Nova" panose="020B0504020202020204" pitchFamily="34" charset="0"/>
              </a:rPr>
              <a:t>DNV</a:t>
            </a:r>
            <a:r>
              <a:rPr lang="pt-BR" sz="2100" dirty="0">
                <a:latin typeface="Arial Nova" panose="020B0504020202020204" pitchFamily="34" charset="0"/>
              </a:rPr>
              <a:t> é uma empresa internacional de certificação e auditoria que atua globalmente na validação e verificação de projetos de crédito de carbono, inventários de gases de efeito estufa e certificações ambientais, sendo acreditada por padrões como </a:t>
            </a:r>
            <a:r>
              <a:rPr lang="pt-BR" sz="2100" dirty="0" err="1">
                <a:latin typeface="Arial Nova" panose="020B0504020202020204" pitchFamily="34" charset="0"/>
              </a:rPr>
              <a:t>Verra</a:t>
            </a:r>
            <a:r>
              <a:rPr lang="pt-BR" sz="2100" dirty="0">
                <a:latin typeface="Arial Nova" panose="020B0504020202020204" pitchFamily="34" charset="0"/>
              </a:rPr>
              <a:t> (VCS) e Gold Standard. Site oficial: https://www.dnv.com;</a:t>
            </a:r>
          </a:p>
          <a:p>
            <a:r>
              <a:rPr lang="pt-BR" sz="2100" dirty="0">
                <a:latin typeface="Arial Nova" panose="020B0504020202020204" pitchFamily="34" charset="0"/>
              </a:rPr>
              <a:t>A </a:t>
            </a:r>
            <a:r>
              <a:rPr lang="pt-BR" sz="2100" b="1" dirty="0">
                <a:latin typeface="Arial Nova" panose="020B0504020202020204" pitchFamily="34" charset="0"/>
              </a:rPr>
              <a:t>SGS</a:t>
            </a:r>
            <a:r>
              <a:rPr lang="pt-BR" sz="2100" dirty="0">
                <a:latin typeface="Arial Nova" panose="020B0504020202020204" pitchFamily="34" charset="0"/>
              </a:rPr>
              <a:t> é uma multinacional suíça especializada em inspeção, testes e certificações, realizando auditorias independentes para projetos de carbono, inventários de emissões e validação conforme normas ISO e padrões internacionais de crédito de carbono. Site oficial: https://www.sgs.com;</a:t>
            </a:r>
          </a:p>
          <a:p>
            <a:r>
              <a:rPr lang="pt-BR" sz="2100" dirty="0">
                <a:latin typeface="Arial Nova" panose="020B0504020202020204" pitchFamily="34" charset="0"/>
              </a:rPr>
              <a:t>A </a:t>
            </a:r>
            <a:r>
              <a:rPr lang="pt-BR" sz="2100" b="1" dirty="0">
                <a:latin typeface="Arial Nova" panose="020B0504020202020204" pitchFamily="34" charset="0"/>
              </a:rPr>
              <a:t>Bureau</a:t>
            </a:r>
            <a:r>
              <a:rPr lang="pt-BR" sz="2100" dirty="0">
                <a:latin typeface="Arial Nova" panose="020B0504020202020204" pitchFamily="34" charset="0"/>
              </a:rPr>
              <a:t> Veritas é uma empresa francesa de certificação que atua na validação e verificação de inventários de GEE e projetos de carbono em diversos setores, incluindo energia, indústria e projetos florestais. Site oficial: https://www.bureauveritas.com;</a:t>
            </a:r>
          </a:p>
          <a:p>
            <a:r>
              <a:rPr lang="pt-BR" sz="2100" dirty="0">
                <a:latin typeface="Arial Nova" panose="020B0504020202020204" pitchFamily="34" charset="0"/>
              </a:rPr>
              <a:t>A </a:t>
            </a:r>
            <a:r>
              <a:rPr lang="pt-BR" sz="2100" b="1" dirty="0">
                <a:latin typeface="Arial Nova" panose="020B0504020202020204" pitchFamily="34" charset="0"/>
              </a:rPr>
              <a:t>TÜV</a:t>
            </a:r>
            <a:r>
              <a:rPr lang="pt-BR" sz="2100" dirty="0">
                <a:latin typeface="Arial Nova" panose="020B0504020202020204" pitchFamily="34" charset="0"/>
              </a:rPr>
              <a:t> Rheinland é uma organização alemã de certificação que realiza auditorias e verificações independentes para projetos de crédito de carbono e inventários de emissões, seguindo padrões internacionais reconhecidos. Site oficial: https://www.tuv.com;</a:t>
            </a:r>
          </a:p>
          <a:p>
            <a:r>
              <a:rPr lang="pt-BR" sz="2100" dirty="0">
                <a:latin typeface="Arial Nova" panose="020B0504020202020204" pitchFamily="34" charset="0"/>
              </a:rPr>
              <a:t>A </a:t>
            </a:r>
            <a:r>
              <a:rPr lang="pt-BR" sz="2100" b="1" dirty="0">
                <a:latin typeface="Arial Nova" panose="020B0504020202020204" pitchFamily="34" charset="0"/>
              </a:rPr>
              <a:t>TÜV</a:t>
            </a:r>
            <a:r>
              <a:rPr lang="pt-BR" sz="2100" dirty="0">
                <a:latin typeface="Arial Nova" panose="020B0504020202020204" pitchFamily="34" charset="0"/>
              </a:rPr>
              <a:t> </a:t>
            </a:r>
            <a:r>
              <a:rPr lang="pt-BR" sz="2100" b="1" dirty="0">
                <a:latin typeface="Arial Nova" panose="020B0504020202020204" pitchFamily="34" charset="0"/>
              </a:rPr>
              <a:t>SÜD</a:t>
            </a:r>
            <a:r>
              <a:rPr lang="pt-BR" sz="2100" dirty="0">
                <a:latin typeface="Arial Nova" panose="020B0504020202020204" pitchFamily="34" charset="0"/>
              </a:rPr>
              <a:t> é outra certificadora alemã de atuação global, com forte presença em auditorias de projetos energéticos, industriais e florestais voltados à geração de créditos de carbono. Site oficial: https://www.tuvsud.com.</a:t>
            </a:r>
          </a:p>
        </p:txBody>
      </p:sp>
      <p:sp>
        <p:nvSpPr>
          <p:cNvPr id="8" name="AutoShape 2" descr="Flor De Lótus Com Folha Em Fundo Transparente PNG , Flor De Lótus, Lótus  Com Folha, Lótus PNG Imagem para download gratuito">
            <a:extLst>
              <a:ext uri="{FF2B5EF4-FFF2-40B4-BE49-F238E27FC236}">
                <a16:creationId xmlns:a16="http://schemas.microsoft.com/office/drawing/2014/main" id="{7A401EE6-B36A-A0B0-5D07-C586AEA9FE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066925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78162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95ABC6-73EF-8F8B-C1F5-DE40EAFB3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Logotipo">
            <a:extLst>
              <a:ext uri="{FF2B5EF4-FFF2-40B4-BE49-F238E27FC236}">
                <a16:creationId xmlns:a16="http://schemas.microsoft.com/office/drawing/2014/main" id="{8AC76DCC-6ABB-DF88-8F60-632EEABDC18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58" b="20792"/>
          <a:stretch>
            <a:fillRect/>
          </a:stretch>
        </p:blipFill>
        <p:spPr>
          <a:xfrm>
            <a:off x="20" y="62813"/>
            <a:ext cx="12191980" cy="6857999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82721D75-4B6F-4465-FBE3-F3F89F6BC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2"/>
                </a:solidFill>
                <a:latin typeface="Arial Nova" panose="020B0504020202020204" pitchFamily="34" charset="0"/>
              </a:rPr>
              <a:t>Créditos de Carbono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FB891038-67B4-8EBE-F84C-49267A106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pt-BR" sz="8000" dirty="0">
                <a:solidFill>
                  <a:schemeClr val="accent2"/>
                </a:solidFill>
                <a:latin typeface="Arial Nova" panose="020B0504020202020204" pitchFamily="34" charset="0"/>
              </a:rPr>
              <a:t>**</a:t>
            </a:r>
          </a:p>
          <a:p>
            <a:pPr marL="0" indent="0">
              <a:buNone/>
            </a:pPr>
            <a:r>
              <a:rPr lang="pt-BR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Nova" panose="020B0504020202020204" pitchFamily="34" charset="0"/>
              </a:rPr>
              <a:t>O registro é feito diretamente na plataforma digital do padrão de certificação escolhido. Seguem os principais:</a:t>
            </a:r>
          </a:p>
          <a:p>
            <a:pPr marL="0" indent="0">
              <a:buNone/>
            </a:pPr>
            <a:r>
              <a:rPr lang="pt-BR" dirty="0">
                <a:latin typeface="Arial Nova" panose="020B0504020202020204" pitchFamily="34" charset="0"/>
              </a:rPr>
              <a:t>O registro no padrão da </a:t>
            </a:r>
            <a:r>
              <a:rPr lang="pt-BR" dirty="0" err="1">
                <a:latin typeface="Arial Nova" panose="020B0504020202020204" pitchFamily="34" charset="0"/>
              </a:rPr>
              <a:t>Verra</a:t>
            </a:r>
            <a:r>
              <a:rPr lang="pt-BR" dirty="0">
                <a:latin typeface="Arial Nova" panose="020B0504020202020204" pitchFamily="34" charset="0"/>
              </a:rPr>
              <a:t> é feito no </a:t>
            </a:r>
            <a:r>
              <a:rPr lang="pt-BR" dirty="0" err="1">
                <a:latin typeface="Arial Nova" panose="020B0504020202020204" pitchFamily="34" charset="0"/>
              </a:rPr>
              <a:t>Verra</a:t>
            </a:r>
            <a:r>
              <a:rPr lang="pt-BR" dirty="0">
                <a:latin typeface="Arial Nova" panose="020B0504020202020204" pitchFamily="34" charset="0"/>
              </a:rPr>
              <a:t> Registry, que é a base oficial onde os projetos são cadastrados, acompanhados e onde os créditos (</a:t>
            </a:r>
            <a:r>
              <a:rPr lang="pt-BR" dirty="0" err="1">
                <a:latin typeface="Arial Nova" panose="020B0504020202020204" pitchFamily="34" charset="0"/>
              </a:rPr>
              <a:t>VCUs</a:t>
            </a:r>
            <a:r>
              <a:rPr lang="pt-BR" dirty="0">
                <a:latin typeface="Arial Nova" panose="020B0504020202020204" pitchFamily="34" charset="0"/>
              </a:rPr>
              <a:t>) são emitidos.</a:t>
            </a:r>
          </a:p>
          <a:p>
            <a:pPr marL="0" indent="0">
              <a:buNone/>
            </a:pPr>
            <a:r>
              <a:rPr lang="pt-BR" dirty="0">
                <a:latin typeface="Arial Nova" panose="020B0504020202020204" pitchFamily="34" charset="0"/>
              </a:rPr>
              <a:t>Plataforma de registro: https://registry.verra.org</a:t>
            </a:r>
          </a:p>
          <a:p>
            <a:pPr marL="0" indent="0">
              <a:buNone/>
            </a:pPr>
            <a:r>
              <a:rPr lang="pt-BR" dirty="0">
                <a:latin typeface="Arial Nova" panose="020B0504020202020204" pitchFamily="34" charset="0"/>
              </a:rPr>
              <a:t>O registro no padrão da Gold Standard ocorre no Gold Standard </a:t>
            </a:r>
            <a:r>
              <a:rPr lang="pt-BR" dirty="0" err="1">
                <a:latin typeface="Arial Nova" panose="020B0504020202020204" pitchFamily="34" charset="0"/>
              </a:rPr>
              <a:t>Impact</a:t>
            </a:r>
            <a:r>
              <a:rPr lang="pt-BR" dirty="0">
                <a:latin typeface="Arial Nova" panose="020B0504020202020204" pitchFamily="34" charset="0"/>
              </a:rPr>
              <a:t> Registry, que centraliza cadastro de projetos, documentação técnica e emissão dos créditos certificados.</a:t>
            </a:r>
          </a:p>
          <a:p>
            <a:pPr marL="0" indent="0">
              <a:buNone/>
            </a:pPr>
            <a:r>
              <a:rPr lang="pt-BR" dirty="0">
                <a:latin typeface="Arial Nova" panose="020B0504020202020204" pitchFamily="34" charset="0"/>
              </a:rPr>
              <a:t>Plataforma de registro: https://registry.goldstandard.org</a:t>
            </a:r>
          </a:p>
          <a:p>
            <a:pPr marL="0" indent="0">
              <a:buNone/>
            </a:pPr>
            <a:r>
              <a:rPr lang="pt-BR" dirty="0">
                <a:latin typeface="Arial Nova" panose="020B0504020202020204" pitchFamily="34" charset="0"/>
              </a:rPr>
              <a:t>O registro no padrão da American Carbon Registry é realizado diretamente no sistema do ACR, onde o projeto é listado e os créditos são emitidos após verificação.</a:t>
            </a:r>
          </a:p>
          <a:p>
            <a:pPr marL="0" indent="0">
              <a:buNone/>
            </a:pPr>
            <a:r>
              <a:rPr lang="pt-BR" dirty="0">
                <a:latin typeface="Arial Nova" panose="020B0504020202020204" pitchFamily="34" charset="0"/>
              </a:rPr>
              <a:t>Plataforma de registro: https://acr2.apx.com</a:t>
            </a:r>
          </a:p>
          <a:p>
            <a:pPr marL="0" indent="0">
              <a:buNone/>
            </a:pPr>
            <a:r>
              <a:rPr lang="pt-BR" dirty="0">
                <a:latin typeface="Arial Nova" panose="020B0504020202020204" pitchFamily="34" charset="0"/>
              </a:rPr>
              <a:t>O registro no padrão da </a:t>
            </a:r>
            <a:r>
              <a:rPr lang="pt-BR" dirty="0" err="1">
                <a:latin typeface="Arial Nova" panose="020B0504020202020204" pitchFamily="34" charset="0"/>
              </a:rPr>
              <a:t>Climate</a:t>
            </a:r>
            <a:r>
              <a:rPr lang="pt-BR" dirty="0">
                <a:latin typeface="Arial Nova" panose="020B0504020202020204" pitchFamily="34" charset="0"/>
              </a:rPr>
              <a:t> </a:t>
            </a:r>
            <a:r>
              <a:rPr lang="pt-BR" dirty="0" err="1">
                <a:latin typeface="Arial Nova" panose="020B0504020202020204" pitchFamily="34" charset="0"/>
              </a:rPr>
              <a:t>Action</a:t>
            </a:r>
            <a:r>
              <a:rPr lang="pt-BR" dirty="0">
                <a:latin typeface="Arial Nova" panose="020B0504020202020204" pitchFamily="34" charset="0"/>
              </a:rPr>
              <a:t> Reserve é feito no sistema oficial do CAR, que publica todos os projetos e créditos emitidos.</a:t>
            </a:r>
          </a:p>
          <a:p>
            <a:pPr marL="0" indent="0">
              <a:buNone/>
            </a:pPr>
            <a:r>
              <a:rPr lang="pt-BR" dirty="0">
                <a:latin typeface="Arial Nova" panose="020B0504020202020204" pitchFamily="34" charset="0"/>
              </a:rPr>
              <a:t>Plataforma de registro: https://thereserve2.apx.com</a:t>
            </a:r>
          </a:p>
        </p:txBody>
      </p:sp>
      <p:sp>
        <p:nvSpPr>
          <p:cNvPr id="8" name="AutoShape 2" descr="Flor De Lótus Com Folha Em Fundo Transparente PNG , Flor De Lótus, Lótus  Com Folha, Lótus PNG Imagem para download gratuito">
            <a:extLst>
              <a:ext uri="{FF2B5EF4-FFF2-40B4-BE49-F238E27FC236}">
                <a16:creationId xmlns:a16="http://schemas.microsoft.com/office/drawing/2014/main" id="{6F9716A4-FEE5-5225-4C00-2A6F8FFF8E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066925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78107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8B8BF1-A8B9-6496-CE1C-EA0EF8F43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Logotipo">
            <a:extLst>
              <a:ext uri="{FF2B5EF4-FFF2-40B4-BE49-F238E27FC236}">
                <a16:creationId xmlns:a16="http://schemas.microsoft.com/office/drawing/2014/main" id="{4748DE01-D986-FC16-1A2F-C1EF612A2AA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58" b="2079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3BA61596-2BCD-1BEB-DE3B-CAD533768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2"/>
                </a:solidFill>
                <a:latin typeface="Arial Nova" panose="020B0504020202020204" pitchFamily="34" charset="0"/>
              </a:rPr>
              <a:t>Créditos de Carbono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B7D9001-ED26-6264-830E-300E96748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 Nova" panose="020B0504020202020204" pitchFamily="34" charset="0"/>
              </a:rPr>
              <a:t>Comercialização</a:t>
            </a:r>
          </a:p>
          <a:p>
            <a:r>
              <a:rPr lang="pt-BR" sz="2200" dirty="0">
                <a:latin typeface="Arial Nova" panose="020B0504020202020204" pitchFamily="34" charset="0"/>
              </a:rPr>
              <a:t>Mercado voluntário (empresas que compram créditos para metas ESG e neutralização);</a:t>
            </a:r>
          </a:p>
          <a:p>
            <a:r>
              <a:rPr lang="pt-BR" sz="2200" dirty="0">
                <a:latin typeface="Arial Nova" panose="020B0504020202020204" pitchFamily="34" charset="0"/>
              </a:rPr>
              <a:t>Mercado regulado (empresas obrigadas a compensar emissões, quando aplicável);</a:t>
            </a:r>
          </a:p>
          <a:p>
            <a:r>
              <a:rPr lang="pt-BR" sz="2200" dirty="0">
                <a:latin typeface="Arial Nova" panose="020B0504020202020204" pitchFamily="34" charset="0"/>
              </a:rPr>
              <a:t>Venda direta para indústrias (contratos bilaterais de compra de créditos);</a:t>
            </a:r>
          </a:p>
          <a:p>
            <a:r>
              <a:rPr lang="pt-BR" sz="2200" dirty="0">
                <a:latin typeface="Arial Nova" panose="020B0504020202020204" pitchFamily="34" charset="0"/>
              </a:rPr>
              <a:t>Intermediação por </a:t>
            </a:r>
            <a:r>
              <a:rPr lang="pt-BR" sz="2200" dirty="0" err="1">
                <a:latin typeface="Arial Nova" panose="020B0504020202020204" pitchFamily="34" charset="0"/>
              </a:rPr>
              <a:t>traders</a:t>
            </a:r>
            <a:r>
              <a:rPr lang="pt-BR" sz="2200" dirty="0">
                <a:latin typeface="Arial Nova" panose="020B0504020202020204" pitchFamily="34" charset="0"/>
              </a:rPr>
              <a:t> (empresas especializadas na negociação de ativos ambientais);</a:t>
            </a:r>
          </a:p>
          <a:p>
            <a:r>
              <a:rPr lang="pt-BR" sz="2200" dirty="0">
                <a:latin typeface="Arial Nova" panose="020B0504020202020204" pitchFamily="34" charset="0"/>
              </a:rPr>
              <a:t>Estruturação como ativo ambiental (valorização patrimonial da área com geração recorrente de créditos).</a:t>
            </a:r>
          </a:p>
        </p:txBody>
      </p:sp>
      <p:sp>
        <p:nvSpPr>
          <p:cNvPr id="8" name="AutoShape 2" descr="Flor De Lótus Com Folha Em Fundo Transparente PNG , Flor De Lótus, Lótus  Com Folha, Lótus PNG Imagem para download gratuito">
            <a:extLst>
              <a:ext uri="{FF2B5EF4-FFF2-40B4-BE49-F238E27FC236}">
                <a16:creationId xmlns:a16="http://schemas.microsoft.com/office/drawing/2014/main" id="{FF808374-5245-2540-069C-C503237A58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066925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92704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DBBED9-AD52-05DD-3A5D-7FD2D9025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Logotipo">
            <a:extLst>
              <a:ext uri="{FF2B5EF4-FFF2-40B4-BE49-F238E27FC236}">
                <a16:creationId xmlns:a16="http://schemas.microsoft.com/office/drawing/2014/main" id="{71376E64-C8B2-CF7C-2CD4-C60AF2CA8AC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58" b="2079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6A9E4EBE-E2DF-605F-3051-DF4898EB6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163" y="514090"/>
            <a:ext cx="10515600" cy="1325563"/>
          </a:xfrm>
        </p:spPr>
        <p:txBody>
          <a:bodyPr/>
          <a:lstStyle/>
          <a:p>
            <a:r>
              <a:rPr lang="pt-BR" dirty="0">
                <a:solidFill>
                  <a:schemeClr val="accent2"/>
                </a:solidFill>
                <a:latin typeface="Arial Nova" panose="020B0504020202020204" pitchFamily="34" charset="0"/>
              </a:rPr>
              <a:t>Resgate  de Carbono no solo (Agro)</a:t>
            </a:r>
          </a:p>
        </p:txBody>
      </p:sp>
      <p:sp>
        <p:nvSpPr>
          <p:cNvPr id="8" name="AutoShape 2" descr="Flor De Lótus Com Folha Em Fundo Transparente PNG , Flor De Lótus, Lótus  Com Folha, Lótus PNG Imagem para download gratuito">
            <a:extLst>
              <a:ext uri="{FF2B5EF4-FFF2-40B4-BE49-F238E27FC236}">
                <a16:creationId xmlns:a16="http://schemas.microsoft.com/office/drawing/2014/main" id="{95807AB4-FD79-B948-9609-F2E2A9114E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066925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" name="Imagem 2" descr="Pessoas sentadas na grama em frente a mesa com comida">
            <a:extLst>
              <a:ext uri="{FF2B5EF4-FFF2-40B4-BE49-F238E27FC236}">
                <a16:creationId xmlns:a16="http://schemas.microsoft.com/office/drawing/2014/main" id="{37CCD2BF-D990-00D9-1338-EEBA9DD06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378" y="2028566"/>
            <a:ext cx="2872902" cy="3821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6912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D4CC48-A01E-88F0-5F06-12FC6732A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Logotipo">
            <a:extLst>
              <a:ext uri="{FF2B5EF4-FFF2-40B4-BE49-F238E27FC236}">
                <a16:creationId xmlns:a16="http://schemas.microsoft.com/office/drawing/2014/main" id="{F4B5BEC2-D8EF-8C56-FAF1-BB156235118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58" b="2079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5EDD186E-5892-49F1-7066-0E8CCBA8B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2"/>
                </a:solidFill>
                <a:latin typeface="Arial Nova" panose="020B0504020202020204" pitchFamily="34" charset="0"/>
              </a:rPr>
              <a:t>Resgate  de Carbono no solo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0895A3A5-0C44-7C26-125E-A2BF6C2A9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Nova" panose="020B0504020202020204" pitchFamily="34" charset="0"/>
              </a:rPr>
              <a:t>Plantio Direto (SPD)</a:t>
            </a:r>
            <a:endParaRPr lang="pt-BR" dirty="0">
              <a:latin typeface="Arial Nova" panose="020B0504020202020204" pitchFamily="34" charset="0"/>
            </a:endParaRPr>
          </a:p>
          <a:p>
            <a:r>
              <a:rPr lang="pt-BR" dirty="0">
                <a:latin typeface="Arial Nova" panose="020B0504020202020204" pitchFamily="34" charset="0"/>
              </a:rPr>
              <a:t>(Plantio sem revolver o solo, usando a palha da cultura anterior como cobertura — reduz a oxidação da matéria orgânica e aumenta o armazenamento de carbono no solo. Pode sequestrar ~0,8 t CO₂/ha/ano em clima tropical.)</a:t>
            </a:r>
          </a:p>
          <a:p>
            <a:r>
              <a:rPr lang="pt-BR" dirty="0">
                <a:latin typeface="Arial Nova" panose="020B0504020202020204" pitchFamily="34" charset="0"/>
              </a:rPr>
              <a:t>https://aegro.com.br/blog/sequestro-de-carbono-na-agricultura/</a:t>
            </a:r>
          </a:p>
        </p:txBody>
      </p:sp>
      <p:sp>
        <p:nvSpPr>
          <p:cNvPr id="8" name="AutoShape 2" descr="Flor De Lótus Com Folha Em Fundo Transparente PNG , Flor De Lótus, Lótus  Com Folha, Lótus PNG Imagem para download gratuito">
            <a:extLst>
              <a:ext uri="{FF2B5EF4-FFF2-40B4-BE49-F238E27FC236}">
                <a16:creationId xmlns:a16="http://schemas.microsoft.com/office/drawing/2014/main" id="{A3D7BA81-CE31-3D3C-BAA2-47102EEB89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066925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20057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128A05-C47B-BD9F-6D35-CD6F98125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Logotipo">
            <a:extLst>
              <a:ext uri="{FF2B5EF4-FFF2-40B4-BE49-F238E27FC236}">
                <a16:creationId xmlns:a16="http://schemas.microsoft.com/office/drawing/2014/main" id="{AF1DEED6-A9A6-FF6C-6B00-5326B3A85FE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58" b="2079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F3F9FC47-38D5-1194-4F9C-C71C119B7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2"/>
                </a:solidFill>
                <a:latin typeface="Arial Nova" panose="020B0504020202020204" pitchFamily="34" charset="0"/>
              </a:rPr>
              <a:t>Resgate  de Carbono no solo</a:t>
            </a:r>
            <a:endParaRPr lang="pt-BR" dirty="0">
              <a:latin typeface="Arial Nova" panose="020B0504020202020204" pitchFamily="34" charset="0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BBF6DFE3-54AA-517C-7F89-3B26CA878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Nova" panose="020B0504020202020204" pitchFamily="34" charset="0"/>
              </a:rPr>
              <a:t>Rotação de Culturas e Diversificação</a:t>
            </a:r>
          </a:p>
          <a:p>
            <a:pPr marL="0" indent="0">
              <a:buNone/>
            </a:pPr>
            <a:r>
              <a:rPr lang="pt-BR" dirty="0">
                <a:latin typeface="Arial Nova" panose="020B0504020202020204" pitchFamily="34" charset="0"/>
              </a:rPr>
              <a:t>Alternar culturas com raízes e ciclos diferentes aumenta a matéria orgânica e favorece a vida microbiana que estabiliza carbono no solo; legumes e plantas profundas são especialmente eficazes.</a:t>
            </a:r>
          </a:p>
          <a:p>
            <a:pPr marL="0" indent="0">
              <a:buNone/>
            </a:pPr>
            <a:r>
              <a:rPr lang="pt-BR" dirty="0">
                <a:latin typeface="Arial Nova" panose="020B0504020202020204" pitchFamily="34" charset="0"/>
              </a:rPr>
              <a:t>https://www.earthreview.org/carbon-sequestration-agriculture-a-pathway-to-climate-smart-and-sustainable-farming/</a:t>
            </a:r>
          </a:p>
        </p:txBody>
      </p:sp>
      <p:sp>
        <p:nvSpPr>
          <p:cNvPr id="8" name="AutoShape 2" descr="Flor De Lótus Com Folha Em Fundo Transparente PNG , Flor De Lótus, Lótus  Com Folha, Lótus PNG Imagem para download gratuito">
            <a:extLst>
              <a:ext uri="{FF2B5EF4-FFF2-40B4-BE49-F238E27FC236}">
                <a16:creationId xmlns:a16="http://schemas.microsoft.com/office/drawing/2014/main" id="{618B2BE1-155D-159C-511D-199D4775FE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066925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44057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99A345-C284-1C01-9EF3-C2665B240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Logotipo">
            <a:extLst>
              <a:ext uri="{FF2B5EF4-FFF2-40B4-BE49-F238E27FC236}">
                <a16:creationId xmlns:a16="http://schemas.microsoft.com/office/drawing/2014/main" id="{958107BF-3BC9-80EE-EFD5-25210A47FCA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58" b="2079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9A446ADF-C67A-97EE-0670-127A1DC6B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2"/>
                </a:solidFill>
                <a:latin typeface="Arial Nova" panose="020B0504020202020204" pitchFamily="34" charset="0"/>
              </a:rPr>
              <a:t>Resgate  de Carbono no solo</a:t>
            </a:r>
            <a:endParaRPr lang="pt-BR" dirty="0">
              <a:latin typeface="Arial Nova" panose="020B0504020202020204" pitchFamily="34" charset="0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0FDF0901-E072-C69D-97E4-E85450068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 Nova" panose="020B0504020202020204" pitchFamily="34" charset="0"/>
              </a:rPr>
              <a:t>Cobertura do Solo (Cover </a:t>
            </a:r>
            <a:r>
              <a:rPr lang="pt-BR" b="1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Arial Nova" panose="020B0504020202020204" pitchFamily="34" charset="0"/>
              </a:rPr>
              <a:t>Crops</a:t>
            </a:r>
            <a:r>
              <a:rPr lang="pt-BR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 Nova" panose="020B05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pt-BR" dirty="0">
                <a:latin typeface="Arial Nova" panose="020B0504020202020204" pitchFamily="34" charset="0"/>
              </a:rPr>
              <a:t>Plantar culturas de cobertura em épocas sem cultivo principal protege o solo, previne erosão e adiciona biomassa que se decompõe e vira carbono orgânico estável no solo</a:t>
            </a:r>
          </a:p>
          <a:p>
            <a:pPr marL="0" indent="0">
              <a:buNone/>
            </a:pPr>
            <a:r>
              <a:rPr lang="pt-BR" dirty="0">
                <a:latin typeface="Arial Nova" panose="020B0504020202020204" pitchFamily="34" charset="0"/>
              </a:rPr>
              <a:t>https://soiloptix.com/our-blog/soil-carbon-sequestration-a-pathway-to-sustainable-agriculture-and-climate-mitigation/</a:t>
            </a:r>
          </a:p>
        </p:txBody>
      </p:sp>
      <p:sp>
        <p:nvSpPr>
          <p:cNvPr id="8" name="AutoShape 2" descr="Flor De Lótus Com Folha Em Fundo Transparente PNG , Flor De Lótus, Lótus  Com Folha, Lótus PNG Imagem para download gratuito">
            <a:extLst>
              <a:ext uri="{FF2B5EF4-FFF2-40B4-BE49-F238E27FC236}">
                <a16:creationId xmlns:a16="http://schemas.microsoft.com/office/drawing/2014/main" id="{07F40C5F-C787-1347-F5EA-BCD96486B4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066925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79804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7F806D-4A13-4F55-163C-E11BE3EDC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Logotipo">
            <a:extLst>
              <a:ext uri="{FF2B5EF4-FFF2-40B4-BE49-F238E27FC236}">
                <a16:creationId xmlns:a16="http://schemas.microsoft.com/office/drawing/2014/main" id="{0A179807-C233-ED02-8F90-3BBBDC13CD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58" b="2079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E1FEFF3B-33EB-EAB1-63B1-79A0332D8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2"/>
                </a:solidFill>
                <a:latin typeface="Arial Nova" panose="020B0504020202020204" pitchFamily="34" charset="0"/>
              </a:rPr>
              <a:t>Resgate  de Carbono no solo</a:t>
            </a:r>
            <a:endParaRPr lang="pt-BR" dirty="0">
              <a:latin typeface="Arial Nova" panose="020B0504020202020204" pitchFamily="34" charset="0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75416B7-5840-F5ED-A482-0DAFABC94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 Nova" panose="020B0504020202020204" pitchFamily="34" charset="0"/>
              </a:rPr>
              <a:t>Integração Lavoura-Pecuária-Floresta (ILPF)</a:t>
            </a:r>
          </a:p>
          <a:p>
            <a:pPr marL="0" indent="0">
              <a:buNone/>
            </a:pPr>
            <a:r>
              <a:rPr lang="pt-BR" dirty="0">
                <a:latin typeface="Arial Nova" panose="020B0504020202020204" pitchFamily="34" charset="0"/>
              </a:rPr>
              <a:t>Sistemas integrados com árvores + pastagem + lavoura aumentam a biomassa acima e abaixo do solo, elevando reservas de carbono e melhorando resiliência</a:t>
            </a:r>
          </a:p>
          <a:p>
            <a:pPr marL="0" indent="0">
              <a:buNone/>
            </a:pPr>
            <a:r>
              <a:rPr lang="pt-BR" dirty="0">
                <a:latin typeface="Arial Nova" panose="020B0504020202020204" pitchFamily="34" charset="0"/>
              </a:rPr>
              <a:t>https://www.terradecultivo.com.br/tcsolucoesambientais/5-praticas-para-promover-o-sequestro-de-carbono-na-agropecuaria/</a:t>
            </a:r>
          </a:p>
        </p:txBody>
      </p:sp>
      <p:sp>
        <p:nvSpPr>
          <p:cNvPr id="8" name="AutoShape 2" descr="Flor De Lótus Com Folha Em Fundo Transparente PNG , Flor De Lótus, Lótus  Com Folha, Lótus PNG Imagem para download gratuito">
            <a:extLst>
              <a:ext uri="{FF2B5EF4-FFF2-40B4-BE49-F238E27FC236}">
                <a16:creationId xmlns:a16="http://schemas.microsoft.com/office/drawing/2014/main" id="{B4E4C100-987B-61EB-F316-8BBB5646A1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066925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5638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6E8F01-9F77-67A4-42EC-039BC0C29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Logotipo">
            <a:extLst>
              <a:ext uri="{FF2B5EF4-FFF2-40B4-BE49-F238E27FC236}">
                <a16:creationId xmlns:a16="http://schemas.microsoft.com/office/drawing/2014/main" id="{04D8B328-9AA0-4B6B-27F5-59F3A66C980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58" b="2079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EB28B41E-8CB4-8F95-4FFE-1355A6417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2"/>
                </a:solidFill>
                <a:latin typeface="Arial Nova" panose="020B0504020202020204" pitchFamily="34" charset="0"/>
              </a:rPr>
              <a:t>Resgate  de Carbono no solo</a:t>
            </a:r>
            <a:endParaRPr lang="pt-BR" dirty="0">
              <a:latin typeface="Arial Nova" panose="020B0504020202020204" pitchFamily="34" charset="0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274758EC-9662-17F1-2D59-0F537999E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>
                <a:latin typeface="Arial Nova" panose="020B0504020202020204" pitchFamily="34" charset="0"/>
              </a:rPr>
              <a:t>Exemplos: Agricultura </a:t>
            </a:r>
            <a:r>
              <a:rPr lang="pt-BR" dirty="0" err="1">
                <a:latin typeface="Arial Nova" panose="020B0504020202020204" pitchFamily="34" charset="0"/>
              </a:rPr>
              <a:t>climáticamente</a:t>
            </a:r>
            <a:r>
              <a:rPr lang="pt-BR" dirty="0">
                <a:latin typeface="Arial Nova" panose="020B0504020202020204" pitchFamily="34" charset="0"/>
              </a:rPr>
              <a:t> consciente na Índia</a:t>
            </a:r>
          </a:p>
          <a:p>
            <a:pPr marL="0" indent="0">
              <a:buNone/>
            </a:pPr>
            <a:r>
              <a:rPr lang="pt-BR" dirty="0">
                <a:latin typeface="Arial Nova" panose="020B0504020202020204" pitchFamily="34" charset="0"/>
              </a:rPr>
              <a:t>Fazendeiros reduziram emissões e aumentaram estoque de carbono no solo usando técnicas como plantio direto e cultivo zero-</a:t>
            </a:r>
            <a:r>
              <a:rPr lang="pt-BR" dirty="0" err="1">
                <a:latin typeface="Arial Nova" panose="020B0504020202020204" pitchFamily="34" charset="0"/>
              </a:rPr>
              <a:t>till</a:t>
            </a:r>
            <a:r>
              <a:rPr lang="pt-BR" dirty="0">
                <a:latin typeface="Arial Nova" panose="020B0504020202020204" pitchFamily="34" charset="0"/>
              </a:rPr>
              <a:t>; créditos são medidos e negociados no mercado voluntário</a:t>
            </a:r>
          </a:p>
          <a:p>
            <a:pPr marL="0" indent="0">
              <a:buNone/>
            </a:pPr>
            <a:r>
              <a:rPr lang="pt-BR" dirty="0">
                <a:latin typeface="Arial Nova" panose="020B0504020202020204" pitchFamily="34" charset="0"/>
              </a:rPr>
              <a:t>https://www.reuters.com/world/indian-farmers-rack-up-carbon-credits-with-climate-conscious-ways--trfn-2023-11-21/</a:t>
            </a:r>
          </a:p>
        </p:txBody>
      </p:sp>
      <p:sp>
        <p:nvSpPr>
          <p:cNvPr id="8" name="AutoShape 2" descr="Flor De Lótus Com Folha Em Fundo Transparente PNG , Flor De Lótus, Lótus  Com Folha, Lótus PNG Imagem para download gratuito">
            <a:extLst>
              <a:ext uri="{FF2B5EF4-FFF2-40B4-BE49-F238E27FC236}">
                <a16:creationId xmlns:a16="http://schemas.microsoft.com/office/drawing/2014/main" id="{F4A8397C-CF78-46CD-C84D-E8202426BE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066925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42149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5FBEFD-A149-5460-E274-57E67F935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Logotipo">
            <a:extLst>
              <a:ext uri="{FF2B5EF4-FFF2-40B4-BE49-F238E27FC236}">
                <a16:creationId xmlns:a16="http://schemas.microsoft.com/office/drawing/2014/main" id="{1CDCD019-DE2C-B5AB-C69B-45FBBBE06C7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58" b="2079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8F075841-4AC7-B143-F586-FCD9C9AAF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2"/>
                </a:solidFill>
                <a:latin typeface="Arial Nova" panose="020B0504020202020204" pitchFamily="34" charset="0"/>
              </a:rPr>
              <a:t>Resgate  de Carbono no solo</a:t>
            </a:r>
            <a:endParaRPr lang="pt-BR" dirty="0">
              <a:latin typeface="Arial Nova" panose="020B0504020202020204" pitchFamily="34" charset="0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3D8CC5AC-3C3D-88EB-8B31-FBA48E294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>
                <a:latin typeface="Arial Nova" panose="020B0504020202020204" pitchFamily="34" charset="0"/>
              </a:rPr>
              <a:t>Exemplo: Fazenda </a:t>
            </a:r>
            <a:r>
              <a:rPr lang="pt-BR" dirty="0" err="1">
                <a:latin typeface="Arial Nova" panose="020B0504020202020204" pitchFamily="34" charset="0"/>
              </a:rPr>
              <a:t>carbon</a:t>
            </a:r>
            <a:r>
              <a:rPr lang="pt-BR" dirty="0">
                <a:latin typeface="Arial Nova" panose="020B0504020202020204" pitchFamily="34" charset="0"/>
              </a:rPr>
              <a:t>-neutral na Austrália</a:t>
            </a:r>
          </a:p>
          <a:p>
            <a:pPr marL="0" indent="0">
              <a:buNone/>
            </a:pPr>
            <a:r>
              <a:rPr lang="pt-BR" dirty="0">
                <a:latin typeface="Arial Nova" panose="020B0504020202020204" pitchFamily="34" charset="0"/>
              </a:rPr>
              <a:t>Uso intensivo de pastagens diversificadas e manejo regenerativo levou a um aumento de ~40 % em carbono do solo, contribuindo para um balanço positivo de emissões</a:t>
            </a:r>
          </a:p>
          <a:p>
            <a:pPr marL="0" indent="0">
              <a:buNone/>
            </a:pPr>
            <a:r>
              <a:rPr lang="pt-BR" dirty="0">
                <a:latin typeface="Arial Nova" panose="020B0504020202020204" pitchFamily="34" charset="0"/>
              </a:rPr>
              <a:t>https://www.theguardian.com/australia-news/2024/mar/23/carbon-neutral-cattle-sale-australia-gloucester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8" name="AutoShape 2" descr="Flor De Lótus Com Folha Em Fundo Transparente PNG , Flor De Lótus, Lótus  Com Folha, Lótus PNG Imagem para download gratuito">
            <a:extLst>
              <a:ext uri="{FF2B5EF4-FFF2-40B4-BE49-F238E27FC236}">
                <a16:creationId xmlns:a16="http://schemas.microsoft.com/office/drawing/2014/main" id="{F5F9603C-DE73-5C0C-A719-F9D33D4D32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066925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7287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24A512-04C8-78A9-721F-B4FD5E7F4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Logotipo">
            <a:extLst>
              <a:ext uri="{FF2B5EF4-FFF2-40B4-BE49-F238E27FC236}">
                <a16:creationId xmlns:a16="http://schemas.microsoft.com/office/drawing/2014/main" id="{DD3561B0-B18E-2308-F0CB-6476B4651C6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58" b="2079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39B1137C-C544-013E-3A3F-0A7D2011D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2"/>
                </a:solidFill>
                <a:latin typeface="Arial Nova" panose="020B0504020202020204" pitchFamily="34" charset="0"/>
              </a:rPr>
              <a:t>Resgate  de Carbono no solo</a:t>
            </a:r>
            <a:endParaRPr lang="pt-BR" dirty="0">
              <a:latin typeface="Arial Nova" panose="020B0504020202020204" pitchFamily="34" charset="0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C9A38BC7-1981-A837-5B40-194906FE0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 Nova" panose="020B0504020202020204" pitchFamily="34" charset="0"/>
              </a:rPr>
              <a:t>Exemplo: </a:t>
            </a:r>
            <a:r>
              <a:rPr lang="pt-BR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Arial Nova" panose="020B0504020202020204" pitchFamily="34" charset="0"/>
              </a:rPr>
              <a:t>Ranchers</a:t>
            </a:r>
            <a:r>
              <a:rPr lang="pt-BR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 Nova" panose="020B0504020202020204" pitchFamily="34" charset="0"/>
              </a:rPr>
              <a:t> (pecuaristas) nos EUA</a:t>
            </a:r>
          </a:p>
          <a:p>
            <a:pPr marL="0" indent="0">
              <a:buNone/>
            </a:pPr>
            <a:r>
              <a:rPr lang="pt-BR" dirty="0" err="1">
                <a:latin typeface="Arial Nova" panose="020B0504020202020204" pitchFamily="34" charset="0"/>
              </a:rPr>
              <a:t>Regenerative</a:t>
            </a:r>
            <a:r>
              <a:rPr lang="pt-BR" dirty="0">
                <a:latin typeface="Arial Nova" panose="020B0504020202020204" pitchFamily="34" charset="0"/>
              </a:rPr>
              <a:t> </a:t>
            </a:r>
            <a:r>
              <a:rPr lang="pt-BR" dirty="0" err="1">
                <a:latin typeface="Arial Nova" panose="020B0504020202020204" pitchFamily="34" charset="0"/>
              </a:rPr>
              <a:t>grazing</a:t>
            </a:r>
            <a:r>
              <a:rPr lang="pt-BR" dirty="0">
                <a:latin typeface="Arial Nova" panose="020B0504020202020204" pitchFamily="34" charset="0"/>
              </a:rPr>
              <a:t> e técnicas como no-</a:t>
            </a:r>
            <a:r>
              <a:rPr lang="pt-BR" dirty="0" err="1">
                <a:latin typeface="Arial Nova" panose="020B0504020202020204" pitchFamily="34" charset="0"/>
              </a:rPr>
              <a:t>till</a:t>
            </a:r>
            <a:r>
              <a:rPr lang="pt-BR" dirty="0">
                <a:latin typeface="Arial Nova" panose="020B0504020202020204" pitchFamily="34" charset="0"/>
              </a:rPr>
              <a:t> e cover </a:t>
            </a:r>
            <a:r>
              <a:rPr lang="pt-BR" dirty="0" err="1">
                <a:latin typeface="Arial Nova" panose="020B0504020202020204" pitchFamily="34" charset="0"/>
              </a:rPr>
              <a:t>crops</a:t>
            </a:r>
            <a:r>
              <a:rPr lang="pt-BR" dirty="0">
                <a:latin typeface="Arial Nova" panose="020B0504020202020204" pitchFamily="34" charset="0"/>
              </a:rPr>
              <a:t> estão mantendo mais carbono no solo, medidos por empresas como </a:t>
            </a:r>
            <a:r>
              <a:rPr lang="pt-BR" dirty="0" err="1">
                <a:latin typeface="Arial Nova" panose="020B0504020202020204" pitchFamily="34" charset="0"/>
              </a:rPr>
              <a:t>Grassroots</a:t>
            </a:r>
            <a:r>
              <a:rPr lang="pt-BR" dirty="0">
                <a:latin typeface="Arial Nova" panose="020B0504020202020204" pitchFamily="34" charset="0"/>
              </a:rPr>
              <a:t> Carbon para gerar créditos vendidos a grandes compradores corporativos.</a:t>
            </a:r>
          </a:p>
          <a:p>
            <a:pPr marL="0" indent="0">
              <a:buNone/>
            </a:pPr>
            <a:r>
              <a:rPr lang="pt-BR" dirty="0">
                <a:latin typeface="Arial Nova" panose="020B0504020202020204" pitchFamily="34" charset="0"/>
              </a:rPr>
              <a:t>https://www.wsj.com/articles/ranchers-are-falling-into-debt-and-selling-land-carbon-credits-are-a-way-to-keep-farming-14b79728</a:t>
            </a:r>
          </a:p>
        </p:txBody>
      </p:sp>
      <p:sp>
        <p:nvSpPr>
          <p:cNvPr id="8" name="AutoShape 2" descr="Flor De Lótus Com Folha Em Fundo Transparente PNG , Flor De Lótus, Lótus  Com Folha, Lótus PNG Imagem para download gratuito">
            <a:extLst>
              <a:ext uri="{FF2B5EF4-FFF2-40B4-BE49-F238E27FC236}">
                <a16:creationId xmlns:a16="http://schemas.microsoft.com/office/drawing/2014/main" id="{51F4148B-EB5D-B4F3-ECCB-B4DF6A7C04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066925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00267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AED77C-497A-7B19-D48E-AA6C38DB3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Logotipo">
            <a:extLst>
              <a:ext uri="{FF2B5EF4-FFF2-40B4-BE49-F238E27FC236}">
                <a16:creationId xmlns:a16="http://schemas.microsoft.com/office/drawing/2014/main" id="{F1DB067E-264C-D4F0-C425-04278E67C7F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58" b="20792"/>
          <a:stretch>
            <a:fillRect/>
          </a:stretch>
        </p:blipFill>
        <p:spPr>
          <a:xfrm>
            <a:off x="97296" y="-152401"/>
            <a:ext cx="12191980" cy="6857999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224D9CE1-02CB-F851-76F9-3F056F14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86" y="2613816"/>
            <a:ext cx="10515600" cy="1325563"/>
          </a:xfrm>
        </p:spPr>
        <p:txBody>
          <a:bodyPr/>
          <a:lstStyle/>
          <a:p>
            <a:r>
              <a:rPr lang="pt-BR" dirty="0">
                <a:solidFill>
                  <a:schemeClr val="accent2"/>
                </a:solidFill>
                <a:latin typeface="Arial Nova" panose="020B0504020202020204" pitchFamily="34" charset="0"/>
              </a:rPr>
              <a:t>Cronograma de ações e Prioridades</a:t>
            </a:r>
            <a:endParaRPr lang="pt-BR" dirty="0">
              <a:latin typeface="Arial Nova" panose="020B0504020202020204" pitchFamily="34" charset="0"/>
            </a:endParaRPr>
          </a:p>
        </p:txBody>
      </p:sp>
      <p:sp>
        <p:nvSpPr>
          <p:cNvPr id="8" name="AutoShape 2" descr="Flor De Lótus Com Folha Em Fundo Transparente PNG , Flor De Lótus, Lótus  Com Folha, Lótus PNG Imagem para download gratuito">
            <a:extLst>
              <a:ext uri="{FF2B5EF4-FFF2-40B4-BE49-F238E27FC236}">
                <a16:creationId xmlns:a16="http://schemas.microsoft.com/office/drawing/2014/main" id="{2E1D5A78-3459-AC31-577C-C4BA39FEDE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066925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830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E3FCC1-1882-94D2-BB4D-E97508E87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Logotipo">
            <a:extLst>
              <a:ext uri="{FF2B5EF4-FFF2-40B4-BE49-F238E27FC236}">
                <a16:creationId xmlns:a16="http://schemas.microsoft.com/office/drawing/2014/main" id="{D7C9EC16-2EE7-F5D5-6155-EADCC2B1AED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58" b="2079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D6F6E068-6352-D367-0295-70BF0AFAE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2"/>
                </a:solidFill>
                <a:latin typeface="Arial Nova" panose="020B0504020202020204" pitchFamily="34" charset="0"/>
              </a:rPr>
              <a:t>Cronograma de ações e Prioridades</a:t>
            </a:r>
            <a:endParaRPr lang="pt-BR" dirty="0">
              <a:latin typeface="Arial Nova" panose="020B0504020202020204" pitchFamily="34" charset="0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BC432AFA-6682-8B29-34B5-F1A8FB463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>
                <a:latin typeface="Arial Nova" panose="020B0504020202020204" pitchFamily="34" charset="0"/>
              </a:rPr>
              <a:t>Elaborar um cronograma contendo as principais ações e próximas ações (contato no grupo).</a:t>
            </a:r>
          </a:p>
        </p:txBody>
      </p:sp>
      <p:sp>
        <p:nvSpPr>
          <p:cNvPr id="8" name="AutoShape 2" descr="Flor De Lótus Com Folha Em Fundo Transparente PNG , Flor De Lótus, Lótus  Com Folha, Lótus PNG Imagem para download gratuito">
            <a:extLst>
              <a:ext uri="{FF2B5EF4-FFF2-40B4-BE49-F238E27FC236}">
                <a16:creationId xmlns:a16="http://schemas.microsoft.com/office/drawing/2014/main" id="{291E982D-8C30-2119-139A-D3CB9FC0FE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066925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23573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31F51F-E241-0307-D77B-D6DDA9F78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Logotipo">
            <a:extLst>
              <a:ext uri="{FF2B5EF4-FFF2-40B4-BE49-F238E27FC236}">
                <a16:creationId xmlns:a16="http://schemas.microsoft.com/office/drawing/2014/main" id="{149599CD-10EA-9A39-1284-B9C84716CF4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58" b="2079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6" name="Título 5">
            <a:extLst>
              <a:ext uri="{FF2B5EF4-FFF2-40B4-BE49-F238E27FC236}">
                <a16:creationId xmlns:a16="http://schemas.microsoft.com/office/drawing/2014/main" id="{33C5A492-1152-19BF-7BBF-37D33D41C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9261" y="2766218"/>
            <a:ext cx="10515600" cy="1325563"/>
          </a:xfrm>
        </p:spPr>
        <p:txBody>
          <a:bodyPr/>
          <a:lstStyle/>
          <a:p>
            <a:r>
              <a:rPr lang="pt-BR" dirty="0">
                <a:solidFill>
                  <a:schemeClr val="accent2"/>
                </a:solidFill>
                <a:latin typeface="Arial Nova" panose="020B0504020202020204" pitchFamily="34" charset="0"/>
              </a:rPr>
              <a:t>Logotipo 1</a:t>
            </a:r>
          </a:p>
        </p:txBody>
      </p:sp>
      <p:sp>
        <p:nvSpPr>
          <p:cNvPr id="8" name="AutoShape 2" descr="Flor De Lótus Com Folha Em Fundo Transparente PNG , Flor De Lótus, Lótus  Com Folha, Lótus PNG Imagem para download gratuito">
            <a:extLst>
              <a:ext uri="{FF2B5EF4-FFF2-40B4-BE49-F238E27FC236}">
                <a16:creationId xmlns:a16="http://schemas.microsoft.com/office/drawing/2014/main" id="{FF363712-25A9-FEE5-80B2-791B61BC04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066925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4818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B129B2-5DB7-E041-08A7-6378F4942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Logotipo">
            <a:extLst>
              <a:ext uri="{FF2B5EF4-FFF2-40B4-BE49-F238E27FC236}">
                <a16:creationId xmlns:a16="http://schemas.microsoft.com/office/drawing/2014/main" id="{8BA400A6-DB8F-FFAD-BDDF-D3BCA46898B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58" b="2079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AB203453-26E5-9371-1D89-6C2B2BEE1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2"/>
                </a:solidFill>
              </a:rPr>
              <a:t>Logotipo 1</a:t>
            </a:r>
            <a:endParaRPr lang="pt-BR" dirty="0"/>
          </a:p>
        </p:txBody>
      </p:sp>
      <p:pic>
        <p:nvPicPr>
          <p:cNvPr id="3" name="Espaço Reservado para Conteúdo 2" descr="Logotipo&#10;&#10;O conteúdo gerado por IA pode estar incorreto.">
            <a:extLst>
              <a:ext uri="{FF2B5EF4-FFF2-40B4-BE49-F238E27FC236}">
                <a16:creationId xmlns:a16="http://schemas.microsoft.com/office/drawing/2014/main" id="{9DE9A1E9-2E8B-BF62-D888-04C6D990D9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253331"/>
            <a:ext cx="4351338" cy="4351338"/>
          </a:xfrm>
          <a:prstGeom prst="rect">
            <a:avLst/>
          </a:prstGeom>
        </p:spPr>
      </p:pic>
      <p:sp>
        <p:nvSpPr>
          <p:cNvPr id="8" name="AutoShape 2" descr="Flor De Lótus Com Folha Em Fundo Transparente PNG , Flor De Lótus, Lótus  Com Folha, Lótus PNG Imagem para download gratuito">
            <a:extLst>
              <a:ext uri="{FF2B5EF4-FFF2-40B4-BE49-F238E27FC236}">
                <a16:creationId xmlns:a16="http://schemas.microsoft.com/office/drawing/2014/main" id="{2B8054A5-0E99-CB27-BF1D-7674C6F24F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066925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57727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BA1BF7-AB87-9D82-6175-AC9F31573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Logotipo">
            <a:extLst>
              <a:ext uri="{FF2B5EF4-FFF2-40B4-BE49-F238E27FC236}">
                <a16:creationId xmlns:a16="http://schemas.microsoft.com/office/drawing/2014/main" id="{C4329412-1DB5-7DC5-913A-33852949289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58" b="2079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17EAB48E-4F7E-814C-3D3C-3B1DA1BAE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>
                <a:solidFill>
                  <a:schemeClr val="accent2"/>
                </a:solidFill>
              </a:rPr>
              <a:t>Obrigado Pela Atenção!</a:t>
            </a:r>
            <a:endParaRPr lang="pt-BR" dirty="0"/>
          </a:p>
        </p:txBody>
      </p:sp>
      <p:sp>
        <p:nvSpPr>
          <p:cNvPr id="8" name="AutoShape 2" descr="Flor De Lótus Com Folha Em Fundo Transparente PNG , Flor De Lótus, Lótus  Com Folha, Lótus PNG Imagem para download gratuito">
            <a:extLst>
              <a:ext uri="{FF2B5EF4-FFF2-40B4-BE49-F238E27FC236}">
                <a16:creationId xmlns:a16="http://schemas.microsoft.com/office/drawing/2014/main" id="{4A03245B-75C5-CCE2-AB86-C889C70B3D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066925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28FD8273-14D9-5135-ADB7-6C87158829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757" y="1296040"/>
            <a:ext cx="4132600" cy="2715282"/>
          </a:xfrm>
          <a:prstGeom prst="rect">
            <a:avLst/>
          </a:prstGeom>
        </p:spPr>
      </p:pic>
      <p:pic>
        <p:nvPicPr>
          <p:cNvPr id="7" name="Imagem 6" descr="Cadeira e mesa de madeira&#10;&#10;O conteúdo gerado por IA pode estar incorreto.">
            <a:extLst>
              <a:ext uri="{FF2B5EF4-FFF2-40B4-BE49-F238E27FC236}">
                <a16:creationId xmlns:a16="http://schemas.microsoft.com/office/drawing/2014/main" id="{FCDB660E-BFAC-C04C-1795-2461D3F8FB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6146" y="4029814"/>
            <a:ext cx="3786241" cy="2274995"/>
          </a:xfrm>
          <a:prstGeom prst="rect">
            <a:avLst/>
          </a:prstGeom>
        </p:spPr>
      </p:pic>
      <p:pic>
        <p:nvPicPr>
          <p:cNvPr id="11" name="Imagem 10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748361FE-5778-347E-F954-B6B40366DA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6535" y="2027432"/>
            <a:ext cx="4335399" cy="325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1334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</TotalTime>
  <Words>1726</Words>
  <Application>Microsoft Office PowerPoint</Application>
  <PresentationFormat>Widescreen</PresentationFormat>
  <Paragraphs>129</Paragraphs>
  <Slides>31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Aptos</vt:lpstr>
      <vt:lpstr>Aptos Display</vt:lpstr>
      <vt:lpstr>Arial</vt:lpstr>
      <vt:lpstr>Arial Nova</vt:lpstr>
      <vt:lpstr>Tema do Office</vt:lpstr>
      <vt:lpstr>Reunião 14/02/2026</vt:lpstr>
      <vt:lpstr>Assuntos pendentes</vt:lpstr>
      <vt:lpstr>Assuntos pendentes</vt:lpstr>
      <vt:lpstr>Missão, Visão e Valores</vt:lpstr>
      <vt:lpstr>Missão</vt:lpstr>
      <vt:lpstr>Visão</vt:lpstr>
      <vt:lpstr>Valores</vt:lpstr>
      <vt:lpstr>Próximo foco de trabalho/venda</vt:lpstr>
      <vt:lpstr>Créditos de Carbono</vt:lpstr>
      <vt:lpstr>Créditos de Carbono</vt:lpstr>
      <vt:lpstr>Créditos de Carbono</vt:lpstr>
      <vt:lpstr>Créditos de Carbono</vt:lpstr>
      <vt:lpstr>Créditos de Carbono</vt:lpstr>
      <vt:lpstr>Créditos de Carbono</vt:lpstr>
      <vt:lpstr>Créditos de Carbono</vt:lpstr>
      <vt:lpstr>Créditos de Carbono</vt:lpstr>
      <vt:lpstr>Créditos de Carbono</vt:lpstr>
      <vt:lpstr>Créditos de Carbono</vt:lpstr>
      <vt:lpstr>Resgate  de Carbono no solo (Agro)</vt:lpstr>
      <vt:lpstr>Resgate  de Carbono no solo</vt:lpstr>
      <vt:lpstr>Resgate  de Carbono no solo</vt:lpstr>
      <vt:lpstr>Resgate  de Carbono no solo</vt:lpstr>
      <vt:lpstr>Resgate  de Carbono no solo</vt:lpstr>
      <vt:lpstr>Resgate  de Carbono no solo</vt:lpstr>
      <vt:lpstr>Resgate  de Carbono no solo</vt:lpstr>
      <vt:lpstr>Resgate  de Carbono no solo</vt:lpstr>
      <vt:lpstr>Cronograma de ações e Prioridades</vt:lpstr>
      <vt:lpstr>Cronograma de ações e Prioridades</vt:lpstr>
      <vt:lpstr>Logotipo 1</vt:lpstr>
      <vt:lpstr>Logotipo 1</vt:lpstr>
      <vt:lpstr>Obrigado Pela Atenção!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CHIAVINI</dc:creator>
  <cp:lastModifiedBy>CHIAVINI</cp:lastModifiedBy>
  <cp:revision>2</cp:revision>
  <dcterms:created xsi:type="dcterms:W3CDTF">2026-02-14T00:04:22Z</dcterms:created>
  <dcterms:modified xsi:type="dcterms:W3CDTF">2026-02-14T02:26:35Z</dcterms:modified>
</cp:coreProperties>
</file>